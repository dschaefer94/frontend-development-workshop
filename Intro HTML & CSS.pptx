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17" r:id="rId5"/>
    <p:sldId id="307" r:id="rId6"/>
    <p:sldId id="308" r:id="rId7"/>
    <p:sldId id="309" r:id="rId8"/>
    <p:sldId id="263" r:id="rId9"/>
    <p:sldId id="320" r:id="rId10"/>
    <p:sldId id="324" r:id="rId11"/>
    <p:sldId id="322" r:id="rId12"/>
    <p:sldId id="319" r:id="rId13"/>
    <p:sldId id="325" r:id="rId14"/>
    <p:sldId id="326" r:id="rId15"/>
    <p:sldId id="323" r:id="rId16"/>
    <p:sldId id="314" r:id="rId17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>
        <p:scale>
          <a:sx n="66" d="100"/>
          <a:sy n="66" d="100"/>
        </p:scale>
        <p:origin x="499" y="32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3961F53F-0880-4BD7-90FD-D0B66FE2430B}" type="datetime1">
              <a:rPr lang="de-DE" smtClean="0"/>
              <a:t>04.12.2025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9E357A0-8177-46BC-BFCE-19D99E3453C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4T19:46:07.7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0,'763'763,"-758"-758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4T19:47:07.5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1,'892'891,"-887"-885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4T19:47:17.6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0,'703'703,"-699"-699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4T19:47:49.3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0,'763'763,"-758"-758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4T19:46:07.7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0,'763'763,"-758"-758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4T19:47:07.5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1,'892'891,"-887"-885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4T19:47:17.6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0,'703'703,"-699"-699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4T19:47:49.3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0,'763'763,"-758"-758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EB0037F-FA90-4F77-BBF7-54A313A9112D}" type="datetime1">
              <a:rPr lang="de-DE" noProof="0" smtClean="0"/>
              <a:t>04.12.2025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7C366290-4595-5745-A50F-D5EC13BAC604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781A-065B-5BE4-4DD2-1858538E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6CA223-A469-EBA4-25CD-DDC38579B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F8E5F76-630F-8D77-27BD-14B91DD2D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8BF18E-C354-2015-21B4-77CC3BC02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443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27242-8519-0C9D-2B43-19BC887D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01B575C-67AB-BD9B-23E6-A2010399C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FC5A3F-ED91-6C50-8B21-AA5EAB074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4FACFB-3B77-29BA-3E49-60C85E80F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3370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374E-F427-2546-58FD-6F3063015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F5515E-25C7-78BD-021E-6B1C014F9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27709FD-631D-1633-36FF-73F18F9BD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FB416E-9915-61E7-91BE-9720620A7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8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98211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47E4-1862-0E87-7BF4-8662EED0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6519D1-6741-5959-A7D7-C6667BDD8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673B97B-D0EC-1F7A-F06D-657E3012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DE9D10-A612-6ECE-9045-C0AC8D8A6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9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0151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34D6C-86F0-3204-9A87-59DC306E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D202AD-C896-BA21-F87D-E92B1D40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AC88E2B-F457-E996-8612-7B2F6D09E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6B0689-6D40-FEED-8758-36C75E4BE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10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4345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A3C4-9EDB-DD2A-96D3-BE2C81E9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23F9094-AE8A-3BD9-24A6-2B40DD929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8A2494C-EBB7-218F-A095-5B3C26B58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0FED37-A60A-FC8C-2CB0-33027B31E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11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60719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26597-B7EC-AA4F-CC14-92D0DED2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F02FFD3-F40E-1069-2C7A-D6E0AEBF6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DF31D2C-DD51-7B6D-894F-72D078FB3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4A7B32-1FDB-0BFA-1B27-51E4AD35A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12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30617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7C366290-4595-5745-A50F-D5EC13BAC604}" type="slidenum">
              <a:rPr lang="de-DE" noProof="0" smtClean="0"/>
              <a:t>13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 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Freihandform: Form 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3" name="Freihandform: Form 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lvl1pPr algn="ctr">
              <a:defRPr lang="de-DE" sz="480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gesordnung 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Freihandform: Form 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rtlCol="0" anchor="ctr" anchorCtr="0"/>
          <a:lstStyle>
            <a:lvl1pPr algn="l">
              <a:defRPr lang="de-DE" sz="32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 rtlCol="0"/>
          <a:lstStyle>
            <a:lvl1pPr marL="0" indent="0" algn="r">
              <a:buNone/>
              <a:defRPr lang="de-DE" sz="2400" cap="all" baseline="0"/>
            </a:lvl1pPr>
            <a:lvl2pPr marL="457200" indent="0" algn="r">
              <a:buNone/>
              <a:defRPr lang="de-DE" sz="1800">
                <a:latin typeface="+mj-lt"/>
              </a:defRPr>
            </a:lvl2pPr>
            <a:lvl3pPr marL="914400" indent="0" algn="r">
              <a:buNone/>
              <a:defRPr lang="de-DE"/>
            </a:lvl3pPr>
            <a:lvl4pPr marL="1371600" indent="0" algn="r">
              <a:buNone/>
              <a:defRPr lang="de-DE"/>
            </a:lvl4pPr>
            <a:lvl5pPr marL="1828800" indent="0" algn="r">
              <a:buNone/>
              <a:defRPr lang="de-DE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Beschriftung 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>
              <a:lnSpc>
                <a:spcPct val="75000"/>
              </a:lnSpc>
              <a:defRPr lang="de-DE" sz="480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t">
            <a:noAutofit/>
          </a:bodyPr>
          <a:lstStyle>
            <a:lvl1pPr marL="0" indent="0" algn="r">
              <a:buNone/>
              <a:defRPr lang="de-DE" sz="1800"/>
            </a:lvl1pPr>
            <a:lvl2pPr marL="457200" indent="0">
              <a:buNone/>
              <a:defRPr lang="de-DE" sz="2800"/>
            </a:lvl2pPr>
            <a:lvl3pPr marL="914400" indent="0">
              <a:buNone/>
              <a:defRPr lang="de-DE" sz="2400"/>
            </a:lvl3pPr>
            <a:lvl4pPr marL="1371600" indent="0">
              <a:buNone/>
              <a:defRPr lang="de-DE" sz="2000"/>
            </a:lvl4pPr>
            <a:lvl5pPr marL="1828800" indent="0">
              <a:buNone/>
              <a:defRPr lang="de-DE" sz="2000"/>
            </a:lvl5pPr>
            <a:lvl6pPr marL="2286000" indent="0">
              <a:buNone/>
              <a:defRPr lang="de-DE" sz="2000"/>
            </a:lvl6pPr>
            <a:lvl7pPr marL="2743200" indent="0">
              <a:buNone/>
              <a:defRPr lang="de-DE" sz="2000"/>
            </a:lvl7pPr>
            <a:lvl8pPr marL="3200400" indent="0">
              <a:buNone/>
              <a:defRPr lang="de-DE" sz="2000"/>
            </a:lvl8pPr>
            <a:lvl9pPr marL="3657600" indent="0">
              <a:buNone/>
              <a:defRPr lang="de-DE" sz="2000"/>
            </a:lvl9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überschrift 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8" name="Freihandform: Form 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rtlCol="0" anchor="b"/>
          <a:lstStyle>
            <a:lvl1pPr>
              <a:lnSpc>
                <a:spcPct val="75000"/>
              </a:lnSpc>
              <a:defRPr lang="de-DE"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 rtlCol="0">
            <a:noAutofit/>
          </a:bodyPr>
          <a:lstStyle>
            <a:lvl1pPr marL="0" indent="0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 rtlCol="0">
            <a:noAutofit/>
          </a:bodyPr>
          <a:lstStyle>
            <a:lvl1pPr marL="0" indent="0">
              <a:buFont typeface="Courier New" panose="02070309020205020404" pitchFamily="49" charset="0"/>
              <a:buNone/>
              <a:defRPr lang="de-DE" sz="2400" b="0" cap="all" baseline="0"/>
            </a:lvl1pPr>
            <a:lvl2pPr>
              <a:defRPr lang="de-DE" sz="2400"/>
            </a:lvl2pPr>
            <a:lvl3pPr>
              <a:defRPr lang="de-DE" sz="2400"/>
            </a:lvl3pPr>
            <a:lvl4pPr>
              <a:defRPr lang="de-DE" sz="2400"/>
            </a:lvl4pPr>
            <a:lvl5pPr>
              <a:defRPr lang="de-DE" sz="2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 rtlCol="0">
            <a:normAutofit/>
          </a:bodyPr>
          <a:lstStyle>
            <a:lvl1pPr>
              <a:defRPr lang="de-DE" sz="2000"/>
            </a:lvl1pPr>
            <a:lvl2pPr>
              <a:defRPr lang="de-DE" sz="1800"/>
            </a:lvl2pPr>
            <a:lvl3pPr>
              <a:defRPr lang="de-DE" sz="1600"/>
            </a:lvl3pPr>
            <a:lvl4pPr>
              <a:defRPr lang="de-DE" sz="1400"/>
            </a:lvl4pPr>
            <a:lvl5pPr>
              <a:defRPr lang="de-DE" sz="14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ihandform: Form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4" name="Freihand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pic>
        <p:nvPicPr>
          <p:cNvPr id="6" name="Grafik 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ihandform: Form 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rtlCol="0" anchor="b" anchorCtr="0"/>
          <a:lstStyle>
            <a:lvl1pPr algn="ctr">
              <a:defRPr lang="de-DE" sz="4800" cap="none" baseline="0">
                <a:latin typeface="+mj-lt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sz="2400" cap="all" baseline="0"/>
            </a:lvl1pPr>
          </a:lstStyle>
          <a:p>
            <a:pPr lvl="0" rtl="0"/>
            <a:r>
              <a:rPr lang="de-DE"/>
              <a:t>Klicken Sie, um Text hinzuzufügen.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 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de-DE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de-DE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/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 rtlCol="0">
            <a:normAutofit/>
          </a:bodyPr>
          <a:lstStyle>
            <a:lvl1pPr marL="228600" indent="-228600">
              <a:buFont typeface="+mj-lt"/>
              <a:buAutoNum type="arabicPeriod"/>
              <a:defRPr lang="de-DE"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lang="de-DE"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lang="de-DE"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lang="de-DE"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de-DE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inhalt und 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Freihandform: Form 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de-DE" sz="3200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de-DE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 rtlCol="0">
            <a:normAutofit/>
          </a:bodyPr>
          <a:lstStyle>
            <a:lvl1pPr marL="0" indent="0" algn="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zwei Inhalte 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ihandform: Form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4" name="Freihandform: Form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Freihandform: Form 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el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de-DE" sz="3200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de-DE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de-DE"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de-DE"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de-DE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5" name="Titel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7" name="Tabellenplatzhalter 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bemerku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ihand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Freihandform: Form 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 algn="l">
              <a:defRPr lang="de-DE" sz="480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Inhaltsplatzhalt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rtlCol="0"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lang="de-DE"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lang="de-DE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de-DE" sz="20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ihandform: Form 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ihandform: Form 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400">
                <a:solidFill>
                  <a:schemeClr val="tx1"/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400">
                <a:solidFill>
                  <a:schemeClr val="tx1"/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customXml" Target="../ink/ink6.xml"/><Relationship Id="rId4" Type="http://schemas.openxmlformats.org/officeDocument/2006/relationships/image" Target="../media/image5.png"/><Relationship Id="rId9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defPPr>
              <a:defRPr lang="de-DE"/>
            </a:defPPr>
          </a:lstStyle>
          <a:p>
            <a:pPr rtl="0"/>
            <a:r>
              <a:rPr lang="de-DE" dirty="0"/>
              <a:t>Intro HTML &amp; CSS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Tagesordnung</a:t>
            </a:r>
          </a:p>
        </p:txBody>
      </p:sp>
      <p:graphicFrame>
        <p:nvGraphicFramePr>
          <p:cNvPr id="6" name="Tabel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289178"/>
              </p:ext>
            </p:extLst>
          </p:nvPr>
        </p:nvGraphicFramePr>
        <p:xfrm>
          <a:off x="6869113" y="1143000"/>
          <a:ext cx="4190999" cy="4614818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r>
                        <a:rPr lang="de-DE" sz="2400" b="0" dirty="0">
                          <a:latin typeface="+mn-lt"/>
                          <a:cs typeface="Gill Sans Light" panose="020B0302020104020203" pitchFamily="34" charset="-79"/>
                        </a:rPr>
                        <a:t>Was sind HTML und CSS ?</a:t>
                      </a:r>
                    </a:p>
                    <a:p>
                      <a:pPr algn="r" rtl="0"/>
                      <a:r>
                        <a:rPr lang="de-DE" sz="2400" b="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r" rtl="0"/>
                      <a:r>
                        <a:rPr lang="de-DE" sz="2400" b="0" dirty="0"/>
                        <a:t>Wie funktioniert HTML ?</a:t>
                      </a:r>
                    </a:p>
                    <a:p>
                      <a:pPr marL="0" algn="r" defTabSz="914400" rtl="0" eaLnBrk="1" latinLnBrk="0" hangingPunct="1"/>
                      <a:r>
                        <a:rPr lang="de-DE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r" rtl="0"/>
                      <a:r>
                        <a:rPr lang="de-DE" sz="2400" b="0" dirty="0"/>
                        <a:t>Übung HTML: Visitenkarte</a:t>
                      </a:r>
                    </a:p>
                    <a:p>
                      <a:pPr marL="0" algn="r" defTabSz="914400" rtl="0" eaLnBrk="1" latinLnBrk="0" hangingPunct="1"/>
                      <a:r>
                        <a:rPr lang="de-DE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r>
                        <a:rPr lang="de-DE" sz="2400" b="0" dirty="0"/>
                        <a:t>Wie funktioniert CSS ?</a:t>
                      </a:r>
                      <a:endParaRPr lang="de-DE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de-DE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r>
                        <a:rPr lang="de-DE" sz="2400" b="0" dirty="0"/>
                        <a:t>Übung CSS: Visitenkarte</a:t>
                      </a:r>
                      <a:endParaRPr lang="de-DE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de-DE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Was sind HTML und CSS ?</a:t>
            </a:r>
          </a:p>
        </p:txBody>
      </p:sp>
      <p:pic>
        <p:nvPicPr>
          <p:cNvPr id="6" name="Bildplatzhalter 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93CA388F-1F41-9B55-6BE8-6A9CDC80B1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9549" r="295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200" dirty="0"/>
              <a:t>HTML und CSS sind…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053943" cy="335657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TEXT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58FB4751-880F-D840-AAA9-3A15815CC996}" type="slidenum">
              <a:rPr lang="de-DE" smtClean="0"/>
              <a:pPr rtl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523" y="914400"/>
            <a:ext cx="7731906" cy="2843784"/>
          </a:xfrm>
        </p:spPr>
        <p:txBody>
          <a:bodyPr rtlCol="0" anchor="b"/>
          <a:lstStyle>
            <a:defPPr>
              <a:defRPr lang="de-DE"/>
            </a:defPPr>
          </a:lstStyle>
          <a:p>
            <a:pPr rtl="0"/>
            <a:r>
              <a:rPr lang="de-DE" dirty="0"/>
              <a:t>HTML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Die Grundlage der </a:t>
            </a:r>
            <a:r>
              <a:rPr lang="de-DE" dirty="0" err="1"/>
              <a:t>seite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319B3-B216-2D3A-24C4-94B76D02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36A0DC9E-9A6C-9637-0AD9-5486FAD0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200" dirty="0"/>
              <a:t>Wie funktioniert HTML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2A5B79D-316C-6D0A-9A30-7C98FDD285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053943" cy="3356576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2200" dirty="0"/>
              <a:t>HTML ist eine Programmiersprache für Webseiten</a:t>
            </a:r>
          </a:p>
          <a:p>
            <a:pPr rtl="0"/>
            <a:r>
              <a:rPr lang="de-DE" sz="2200" dirty="0"/>
              <a:t>Sie beschreibt das „Grundgerüst“ der Seite</a:t>
            </a:r>
          </a:p>
          <a:p>
            <a:pPr lvl="1"/>
            <a:r>
              <a:rPr lang="de-DE" sz="2000" dirty="0">
                <a:solidFill>
                  <a:srgbClr val="FF0000"/>
                </a:solidFill>
              </a:rPr>
              <a:t>Nicht das aussehen, nur was </a:t>
            </a:r>
            <a:r>
              <a:rPr lang="de-DE" sz="2000" dirty="0" err="1">
                <a:solidFill>
                  <a:srgbClr val="FF0000"/>
                </a:solidFill>
              </a:rPr>
              <a:t>drinn</a:t>
            </a:r>
            <a:r>
              <a:rPr lang="de-DE" sz="2000" dirty="0">
                <a:solidFill>
                  <a:srgbClr val="FF0000"/>
                </a:solidFill>
              </a:rPr>
              <a:t> ist!</a:t>
            </a:r>
          </a:p>
          <a:p>
            <a:pPr rtl="0"/>
            <a:r>
              <a:rPr lang="de-DE" sz="2200" dirty="0"/>
              <a:t>Benutzt „Tags“ um Inhalte zu definieren</a:t>
            </a:r>
          </a:p>
          <a:p>
            <a:pPr rtl="0"/>
            <a:endParaRPr lang="de-DE" sz="2200" dirty="0"/>
          </a:p>
          <a:p>
            <a:pPr marL="457200" lvl="1" indent="0">
              <a:buNone/>
            </a:pPr>
            <a:r>
              <a:rPr lang="de-DE" sz="2200" dirty="0"/>
              <a:t>&lt;title&gt;Ich bin ein Titel &lt;/</a:t>
            </a:r>
            <a:r>
              <a:rPr lang="de-DE" sz="2200" dirty="0" err="1"/>
              <a:t>titel</a:t>
            </a:r>
            <a:r>
              <a:rPr lang="de-DE" sz="2200" dirty="0"/>
              <a:t>&gt;</a:t>
            </a:r>
          </a:p>
          <a:p>
            <a:pPr marL="457200" lvl="1" indent="0">
              <a:buNone/>
            </a:pPr>
            <a:r>
              <a:rPr lang="de-DE" sz="2200" dirty="0"/>
              <a:t>&lt;p&gt; Ich bin ein Paragraf &lt;/p&gt;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864A5C6-8EA8-665D-B655-7528B4662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58FB4751-880F-D840-AAA9-3A15815CC996}" type="slidenum">
              <a:rPr lang="de-DE" smtClean="0"/>
              <a:pPr rtl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605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BEE0-60C5-DF5E-0B2B-D1B6253B9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8DF6054A-D1D0-2D59-B5D4-E17C3600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200" dirty="0"/>
              <a:t>Tags in HTML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7048094-216E-09DC-A779-DB59D7DB5F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053943" cy="3356576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457200" lvl="1" indent="0">
              <a:buNone/>
            </a:pPr>
            <a:endParaRPr lang="de-DE" sz="2200" dirty="0"/>
          </a:p>
          <a:p>
            <a:pPr marL="457200" lvl="1" indent="0" algn="ctr">
              <a:buNone/>
            </a:pPr>
            <a:r>
              <a:rPr lang="de-DE" sz="3000" dirty="0">
                <a:solidFill>
                  <a:srgbClr val="00B050"/>
                </a:solidFill>
              </a:rPr>
              <a:t>&lt;p </a:t>
            </a:r>
            <a:r>
              <a:rPr lang="de-DE" sz="30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de-DE" sz="3000" dirty="0" err="1">
                <a:solidFill>
                  <a:schemeClr val="tx2">
                    <a:lumMod val="75000"/>
                  </a:schemeClr>
                </a:solidFill>
              </a:rPr>
              <a:t>attribute</a:t>
            </a:r>
            <a:r>
              <a:rPr lang="de-DE" sz="3000" dirty="0">
                <a:solidFill>
                  <a:schemeClr val="tx2">
                    <a:lumMod val="75000"/>
                  </a:schemeClr>
                </a:solidFill>
              </a:rPr>
              <a:t>)&gt; </a:t>
            </a: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Ich bin ein Paragraf </a:t>
            </a:r>
            <a:r>
              <a:rPr lang="de-DE" sz="3000" dirty="0">
                <a:solidFill>
                  <a:srgbClr val="0070C0"/>
                </a:solidFill>
              </a:rPr>
              <a:t>&lt;/p&gt;</a:t>
            </a:r>
          </a:p>
          <a:p>
            <a:pPr marL="457200" lvl="1" indent="0" algn="just">
              <a:buNone/>
            </a:pPr>
            <a:endParaRPr lang="de-DE" sz="2200" dirty="0">
              <a:solidFill>
                <a:srgbClr val="00B050"/>
              </a:solidFill>
            </a:endParaRPr>
          </a:p>
          <a:p>
            <a:pPr marL="457200" lvl="1" indent="0" algn="just">
              <a:buNone/>
            </a:pPr>
            <a:r>
              <a:rPr lang="de-DE" sz="2200" dirty="0">
                <a:solidFill>
                  <a:srgbClr val="00B050"/>
                </a:solidFill>
              </a:rPr>
              <a:t>Öffnet tag	</a:t>
            </a:r>
            <a:r>
              <a:rPr lang="de-DE" sz="2200" dirty="0">
                <a:solidFill>
                  <a:schemeClr val="tx2">
                    <a:lumMod val="75000"/>
                  </a:schemeClr>
                </a:solidFill>
              </a:rPr>
              <a:t>Attribute</a:t>
            </a:r>
            <a:r>
              <a:rPr lang="de-DE" sz="2200" dirty="0">
                <a:solidFill>
                  <a:srgbClr val="00B050"/>
                </a:solidFill>
              </a:rPr>
              <a:t>	</a:t>
            </a:r>
            <a:r>
              <a:rPr lang="de-DE" sz="2200" dirty="0">
                <a:solidFill>
                  <a:schemeClr val="accent1">
                    <a:lumMod val="50000"/>
                  </a:schemeClr>
                </a:solidFill>
              </a:rPr>
              <a:t>Inhalt		</a:t>
            </a:r>
            <a:r>
              <a:rPr lang="de-DE" sz="2200" dirty="0">
                <a:solidFill>
                  <a:srgbClr val="0070C0"/>
                </a:solidFill>
              </a:rPr>
              <a:t>Schließt Tag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742DBCF-3748-1B03-DC1B-0B1C4DD47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58FB4751-880F-D840-AAA9-3A15815CC996}" type="slidenum">
              <a:rPr lang="de-DE" smtClean="0"/>
              <a:pPr rtl="0"/>
              <a:t>7</a:t>
            </a:fld>
            <a:endParaRPr lang="de-DE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35BDDAE-4276-134D-1DE8-E5372A6BC18D}"/>
                  </a:ext>
                </a:extLst>
              </p14:cNvPr>
              <p14:cNvContentPartPr/>
              <p14:nvPr/>
            </p14:nvContentPartPr>
            <p14:xfrm rot="2700000">
              <a:off x="3215024" y="2920609"/>
              <a:ext cx="276592" cy="276592"/>
            </p14:xfrm>
          </p:contentPart>
        </mc:Choice>
        <mc:Fallback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35BDDAE-4276-134D-1DE8-E5372A6BC1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700000">
                <a:off x="3208909" y="2914494"/>
                <a:ext cx="288821" cy="2888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1199DF45-0C84-607F-3FC5-9BDF5E6FE12A}"/>
                  </a:ext>
                </a:extLst>
              </p14:cNvPr>
              <p14:cNvContentPartPr/>
              <p14:nvPr/>
            </p14:nvContentPartPr>
            <p14:xfrm rot="2700000">
              <a:off x="4792136" y="2930281"/>
              <a:ext cx="323290" cy="32329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1199DF45-0C84-607F-3FC5-9BDF5E6FE1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2700000">
                <a:off x="4786016" y="2924161"/>
                <a:ext cx="335530" cy="335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6F54E103-443E-462D-2B74-E50C9FE48302}"/>
                  </a:ext>
                </a:extLst>
              </p14:cNvPr>
              <p14:cNvContentPartPr/>
              <p14:nvPr/>
            </p14:nvContentPartPr>
            <p14:xfrm rot="2700000">
              <a:off x="7110755" y="2947475"/>
              <a:ext cx="254614" cy="254614"/>
            </p14:xfrm>
          </p:contentPart>
        </mc:Choice>
        <mc:Fallback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6F54E103-443E-462D-2B74-E50C9FE483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2700000">
                <a:off x="7104641" y="2941361"/>
                <a:ext cx="266841" cy="266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3E452782-4532-5044-187C-6CF79F60F268}"/>
                  </a:ext>
                </a:extLst>
              </p14:cNvPr>
              <p14:cNvContentPartPr/>
              <p14:nvPr/>
            </p14:nvContentPartPr>
            <p14:xfrm rot="2700000">
              <a:off x="1843164" y="2953630"/>
              <a:ext cx="276592" cy="276592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3E452782-4532-5044-187C-6CF79F60F2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700000">
                <a:off x="1837049" y="2947515"/>
                <a:ext cx="288821" cy="2888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11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59F5-1E88-4FA1-62CB-B7A500889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2">
            <a:extLst>
              <a:ext uri="{FF2B5EF4-FFF2-40B4-BE49-F238E27FC236}">
                <a16:creationId xmlns:a16="http://schemas.microsoft.com/office/drawing/2014/main" id="{5ECF6636-46DE-1964-3771-EC0468421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523" y="914400"/>
            <a:ext cx="7731906" cy="2843784"/>
          </a:xfrm>
        </p:spPr>
        <p:txBody>
          <a:bodyPr rtlCol="0" anchor="b"/>
          <a:lstStyle>
            <a:defPPr>
              <a:defRPr lang="de-DE"/>
            </a:defPPr>
          </a:lstStyle>
          <a:p>
            <a:pPr rtl="0"/>
            <a:r>
              <a:rPr lang="de-DE" dirty="0"/>
              <a:t>Übung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80DDD57-D94A-22BC-055E-F39D31A2D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Baue dir deine Visitenkarte/Steckbrief</a:t>
            </a:r>
          </a:p>
        </p:txBody>
      </p:sp>
    </p:spTree>
    <p:extLst>
      <p:ext uri="{BB962C8B-B14F-4D97-AF65-F5344CB8AC3E}">
        <p14:creationId xmlns:p14="http://schemas.microsoft.com/office/powerpoint/2010/main" val="210062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159C-7518-AC7A-EE04-786BCFE5E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2">
            <a:extLst>
              <a:ext uri="{FF2B5EF4-FFF2-40B4-BE49-F238E27FC236}">
                <a16:creationId xmlns:a16="http://schemas.microsoft.com/office/drawing/2014/main" id="{84EDBE11-50A0-5079-091A-2B084249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523" y="914400"/>
            <a:ext cx="7731906" cy="2843784"/>
          </a:xfrm>
        </p:spPr>
        <p:txBody>
          <a:bodyPr rtlCol="0" anchor="b"/>
          <a:lstStyle>
            <a:defPPr>
              <a:defRPr lang="de-DE"/>
            </a:defPPr>
          </a:lstStyle>
          <a:p>
            <a:pPr rtl="0"/>
            <a:r>
              <a:rPr lang="de-DE" dirty="0"/>
              <a:t>CSS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7B9B256-8E86-A99F-D49E-0EB2352A4A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Das design der </a:t>
            </a:r>
            <a:r>
              <a:rPr lang="de-DE" dirty="0" err="1"/>
              <a:t>seite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544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B7937-510D-ECA9-E951-FC155760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2310466A-BB5C-66C4-FAB0-31FB86A7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200" dirty="0"/>
              <a:t>Wie funktioniert CSS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FFADC25-8592-3019-D5DB-4B459E52FD0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053943" cy="3356576"/>
          </a:xfrm>
        </p:spPr>
        <p:txBody>
          <a:bodyPr rtlCol="0">
            <a:normAutofit lnSpcReduction="10000"/>
          </a:bodyPr>
          <a:lstStyle>
            <a:defPPr>
              <a:defRPr lang="de-DE"/>
            </a:defPPr>
          </a:lstStyle>
          <a:p>
            <a:pPr rtl="0"/>
            <a:r>
              <a:rPr lang="de-DE" sz="2200" dirty="0"/>
              <a:t>CSS ist eine Programmiersprache für Webseiten</a:t>
            </a:r>
          </a:p>
          <a:p>
            <a:pPr rtl="0"/>
            <a:r>
              <a:rPr lang="de-DE" sz="2200" dirty="0"/>
              <a:t>Sie beschreibt das Design der Seite</a:t>
            </a:r>
          </a:p>
          <a:p>
            <a:pPr lvl="1"/>
            <a:r>
              <a:rPr lang="de-DE" sz="2000" dirty="0">
                <a:solidFill>
                  <a:srgbClr val="FF0000"/>
                </a:solidFill>
              </a:rPr>
              <a:t>Nur das Aussehen, Nicht was </a:t>
            </a:r>
            <a:r>
              <a:rPr lang="de-DE" sz="2000" dirty="0" err="1">
                <a:solidFill>
                  <a:srgbClr val="FF0000"/>
                </a:solidFill>
              </a:rPr>
              <a:t>Drinn</a:t>
            </a:r>
            <a:r>
              <a:rPr lang="de-DE" sz="2000" dirty="0">
                <a:solidFill>
                  <a:srgbClr val="FF0000"/>
                </a:solidFill>
              </a:rPr>
              <a:t> ist!</a:t>
            </a:r>
          </a:p>
          <a:p>
            <a:pPr rtl="0"/>
            <a:r>
              <a:rPr lang="de-DE" sz="2200" dirty="0"/>
              <a:t>Benutzt die HTML Tags um deren Inhalte zu verändern</a:t>
            </a:r>
          </a:p>
          <a:p>
            <a:pPr rtl="0"/>
            <a:endParaRPr lang="de-DE" sz="2200" dirty="0"/>
          </a:p>
          <a:p>
            <a:pPr marL="457200" lvl="1" indent="0">
              <a:buNone/>
            </a:pPr>
            <a:r>
              <a:rPr lang="de-DE" sz="2200" dirty="0"/>
              <a:t>p</a:t>
            </a:r>
          </a:p>
          <a:p>
            <a:pPr marL="457200" lvl="1" indent="0">
              <a:buNone/>
            </a:pPr>
            <a:r>
              <a:rPr lang="de-DE" sz="2200" dirty="0"/>
              <a:t>{</a:t>
            </a:r>
          </a:p>
          <a:p>
            <a:pPr marL="457200" lvl="1" indent="0">
              <a:buNone/>
            </a:pPr>
            <a:r>
              <a:rPr lang="de-DE" sz="2200" dirty="0"/>
              <a:t>	</a:t>
            </a:r>
            <a:r>
              <a:rPr lang="de-DE" sz="2200" dirty="0" err="1"/>
              <a:t>color</a:t>
            </a:r>
            <a:r>
              <a:rPr lang="de-DE" sz="2200" dirty="0"/>
              <a:t> = </a:t>
            </a:r>
            <a:r>
              <a:rPr lang="de-DE" sz="2200" dirty="0" err="1"/>
              <a:t>black</a:t>
            </a:r>
            <a:r>
              <a:rPr lang="de-DE" sz="2200" dirty="0"/>
              <a:t>;</a:t>
            </a:r>
          </a:p>
          <a:p>
            <a:pPr marL="457200" lvl="1" indent="0">
              <a:buNone/>
            </a:pPr>
            <a:r>
              <a:rPr lang="de-DE" sz="2200" dirty="0"/>
              <a:t>}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D17B245-53A4-D1C2-DBB7-C7F7C186B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58FB4751-880F-D840-AAA9-3A15815CC996}" type="slidenum">
              <a:rPr lang="de-DE" smtClean="0"/>
              <a:pPr rtl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8387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44E9-3751-D960-276F-C7D9A310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2EEA0791-BC18-B8F9-B738-9C6AD860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HTML und </a:t>
            </a:r>
            <a:r>
              <a:rPr lang="de-DE"/>
              <a:t>CSS tags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677E03A-6A9D-5C4A-24E4-78B3AAFD50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053943" cy="3356576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457200" lvl="1" indent="0">
              <a:buNone/>
            </a:pPr>
            <a:endParaRPr lang="de-DE" sz="2200" dirty="0"/>
          </a:p>
          <a:p>
            <a:pPr marL="457200" lvl="1" indent="0" algn="ctr">
              <a:buNone/>
            </a:pPr>
            <a:r>
              <a:rPr lang="de-DE" sz="3000" dirty="0">
                <a:solidFill>
                  <a:srgbClr val="00B050"/>
                </a:solidFill>
              </a:rPr>
              <a:t>&lt;p </a:t>
            </a:r>
            <a:r>
              <a:rPr lang="de-DE" sz="30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de-DE" sz="3000" dirty="0" err="1">
                <a:solidFill>
                  <a:schemeClr val="tx2">
                    <a:lumMod val="75000"/>
                  </a:schemeClr>
                </a:solidFill>
              </a:rPr>
              <a:t>attribute</a:t>
            </a:r>
            <a:r>
              <a:rPr lang="de-DE" sz="3000" dirty="0">
                <a:solidFill>
                  <a:schemeClr val="tx2">
                    <a:lumMod val="75000"/>
                  </a:schemeClr>
                </a:solidFill>
              </a:rPr>
              <a:t>)&gt; </a:t>
            </a: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Ich bin ein Paragraf </a:t>
            </a:r>
            <a:r>
              <a:rPr lang="de-DE" sz="3000" dirty="0">
                <a:solidFill>
                  <a:srgbClr val="0070C0"/>
                </a:solidFill>
              </a:rPr>
              <a:t>&lt;/p&gt;</a:t>
            </a:r>
          </a:p>
          <a:p>
            <a:pPr marL="457200" lvl="1" indent="0" algn="just">
              <a:buNone/>
            </a:pPr>
            <a:endParaRPr lang="de-DE" sz="2200" dirty="0">
              <a:solidFill>
                <a:srgbClr val="00B050"/>
              </a:solidFill>
            </a:endParaRPr>
          </a:p>
          <a:p>
            <a:pPr marL="457200" lvl="1" indent="0" algn="just">
              <a:buNone/>
            </a:pPr>
            <a:r>
              <a:rPr lang="de-DE" sz="2200" dirty="0">
                <a:solidFill>
                  <a:srgbClr val="00B050"/>
                </a:solidFill>
              </a:rPr>
              <a:t>Öffnet tag	</a:t>
            </a:r>
            <a:r>
              <a:rPr lang="de-DE" sz="2200" dirty="0">
                <a:solidFill>
                  <a:schemeClr val="tx2">
                    <a:lumMod val="75000"/>
                  </a:schemeClr>
                </a:solidFill>
              </a:rPr>
              <a:t>Attribute</a:t>
            </a:r>
            <a:r>
              <a:rPr lang="de-DE" sz="2200" dirty="0">
                <a:solidFill>
                  <a:srgbClr val="00B050"/>
                </a:solidFill>
              </a:rPr>
              <a:t>	</a:t>
            </a:r>
            <a:r>
              <a:rPr lang="de-DE" sz="2200" dirty="0">
                <a:solidFill>
                  <a:schemeClr val="accent1">
                    <a:lumMod val="50000"/>
                  </a:schemeClr>
                </a:solidFill>
              </a:rPr>
              <a:t>Inhalt		</a:t>
            </a:r>
            <a:r>
              <a:rPr lang="de-DE" sz="2200" dirty="0">
                <a:solidFill>
                  <a:srgbClr val="0070C0"/>
                </a:solidFill>
              </a:rPr>
              <a:t>Schließt Tag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34CF8AE-4A94-4BC4-0188-FBA230BB6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58FB4751-880F-D840-AAA9-3A15815CC996}" type="slidenum">
              <a:rPr lang="de-DE" smtClean="0"/>
              <a:pPr rtl="0"/>
              <a:t>11</a:t>
            </a:fld>
            <a:endParaRPr lang="de-DE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608FC876-3C41-9EB7-E70E-827478BFD369}"/>
                  </a:ext>
                </a:extLst>
              </p14:cNvPr>
              <p14:cNvContentPartPr/>
              <p14:nvPr/>
            </p14:nvContentPartPr>
            <p14:xfrm rot="2700000">
              <a:off x="3215024" y="2920609"/>
              <a:ext cx="276592" cy="276592"/>
            </p14:xfrm>
          </p:contentPart>
        </mc:Choice>
        <mc:Fallback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608FC876-3C41-9EB7-E70E-827478BFD3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700000">
                <a:off x="3208909" y="2914494"/>
                <a:ext cx="288821" cy="2888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9EB26B2D-99D1-CEE2-912A-D589B3FB7710}"/>
                  </a:ext>
                </a:extLst>
              </p14:cNvPr>
              <p14:cNvContentPartPr/>
              <p14:nvPr/>
            </p14:nvContentPartPr>
            <p14:xfrm rot="2700000">
              <a:off x="4792136" y="2930281"/>
              <a:ext cx="323290" cy="32329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9EB26B2D-99D1-CEE2-912A-D589B3FB77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2700000">
                <a:off x="4786016" y="2924161"/>
                <a:ext cx="335530" cy="335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BE45B2E2-BD2B-417F-36A6-18BF2C4AE96F}"/>
                  </a:ext>
                </a:extLst>
              </p14:cNvPr>
              <p14:cNvContentPartPr/>
              <p14:nvPr/>
            </p14:nvContentPartPr>
            <p14:xfrm rot="2700000">
              <a:off x="7110755" y="2947475"/>
              <a:ext cx="254614" cy="254614"/>
            </p14:xfrm>
          </p:contentPart>
        </mc:Choice>
        <mc:Fallback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BE45B2E2-BD2B-417F-36A6-18BF2C4AE9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2700000">
                <a:off x="7104641" y="2941361"/>
                <a:ext cx="266841" cy="266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FFEB50CF-96A4-24BE-F353-2569220BA40D}"/>
                  </a:ext>
                </a:extLst>
              </p14:cNvPr>
              <p14:cNvContentPartPr/>
              <p14:nvPr/>
            </p14:nvContentPartPr>
            <p14:xfrm rot="2700000">
              <a:off x="1843164" y="2953630"/>
              <a:ext cx="276592" cy="276592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FFEB50CF-96A4-24BE-F353-2569220BA4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700000">
                <a:off x="1837049" y="2947515"/>
                <a:ext cx="288821" cy="2888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412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28D8-051F-F238-6D76-43398E28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2">
            <a:extLst>
              <a:ext uri="{FF2B5EF4-FFF2-40B4-BE49-F238E27FC236}">
                <a16:creationId xmlns:a16="http://schemas.microsoft.com/office/drawing/2014/main" id="{81A9E5DA-924A-3A81-BBA6-BC86D261B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523" y="914400"/>
            <a:ext cx="7731906" cy="2843784"/>
          </a:xfrm>
        </p:spPr>
        <p:txBody>
          <a:bodyPr rtlCol="0" anchor="b"/>
          <a:lstStyle>
            <a:defPPr>
              <a:defRPr lang="de-DE"/>
            </a:defPPr>
          </a:lstStyle>
          <a:p>
            <a:pPr rtl="0"/>
            <a:r>
              <a:rPr lang="de-DE" dirty="0"/>
              <a:t>Übung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9E470F8-BBB1-6DC3-C2E0-21DE32C476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Gestallte deine Visitenkarte/Steckbrief</a:t>
            </a:r>
          </a:p>
        </p:txBody>
      </p:sp>
    </p:spTree>
    <p:extLst>
      <p:ext uri="{BB962C8B-B14F-4D97-AF65-F5344CB8AC3E}">
        <p14:creationId xmlns:p14="http://schemas.microsoft.com/office/powerpoint/2010/main" val="2210441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200" dirty="0"/>
              <a:t>LETZTE TIPPS UND ERKENNTNISSE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KONSEQUENTES ÜBEN</a:t>
            </a:r>
          </a:p>
          <a:p>
            <a:pPr lvl="1" rtl="0"/>
            <a:r>
              <a:rPr lang="de-DE" dirty="0"/>
              <a:t>Stärken Ihrer Vertrautheit</a:t>
            </a:r>
          </a:p>
          <a:p>
            <a:pPr rtl="0"/>
            <a:r>
              <a:rPr lang="de-DE" dirty="0"/>
              <a:t>VORTRAGSSTIL VERFEINERN</a:t>
            </a:r>
          </a:p>
          <a:p>
            <a:pPr lvl="1" rtl="0"/>
            <a:r>
              <a:rPr lang="de-DE" dirty="0"/>
              <a:t>Tempo, Tonfall und Betonung</a:t>
            </a:r>
          </a:p>
          <a:p>
            <a:pPr rtl="0"/>
            <a:r>
              <a:rPr lang="de-DE" dirty="0"/>
              <a:t>TIMING UND ÜBERGÄNGE</a:t>
            </a:r>
          </a:p>
          <a:p>
            <a:pPr lvl="1" rtl="0"/>
            <a:r>
              <a:rPr lang="de-DE" dirty="0"/>
              <a:t>Streben Sie einen nahtlosen, professionellen Vortrag an.</a:t>
            </a:r>
          </a:p>
          <a:p>
            <a:pPr rtl="0"/>
            <a:r>
              <a:rPr lang="de-DE" dirty="0"/>
              <a:t>ÜBUNGSPUBLIKUM</a:t>
            </a:r>
          </a:p>
          <a:p>
            <a:pPr lvl="1" rtl="0"/>
            <a:r>
              <a:rPr lang="de-DE" dirty="0"/>
              <a:t>Bitten Sie Ihre Kollegen, zuzuhören und Feedback zu geben.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DA9EE9E-3073-7E11-3AA5-F77C3B48A9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Feedback einholen</a:t>
            </a:r>
          </a:p>
          <a:p>
            <a:pPr rtl="0"/>
            <a:r>
              <a:rPr lang="de-DE" dirty="0"/>
              <a:t>Über Leistung nachdenken</a:t>
            </a:r>
          </a:p>
          <a:p>
            <a:pPr rtl="0"/>
            <a:r>
              <a:rPr lang="de-DE" dirty="0"/>
              <a:t>Erkunden neuer Techniken</a:t>
            </a:r>
          </a:p>
          <a:p>
            <a:pPr rtl="0"/>
            <a:r>
              <a:rPr lang="de-DE" dirty="0"/>
              <a:t>Persönliche Ziele festlegen</a:t>
            </a:r>
          </a:p>
          <a:p>
            <a:pPr rtl="0"/>
            <a:r>
              <a:rPr lang="de-DE" dirty="0"/>
              <a:t>Wiederholen und Anpassen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58FB4751-880F-D840-AAA9-3A15815CC996}" type="slidenum">
              <a:rPr lang="de-DE" smtClean="0"/>
              <a:pPr rtl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585_TF11964407_Win32" id="{688BD650-303D-48BB-9279-E5AFCA70B978}" vid="{6812C2CD-8DD4-4DA8-8C5E-C552641CF11C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{CCE7A5E2-7071-4A8F-B002-9EE99B4329C5}tf11964407_win32</Template>
  <TotalTime>0</TotalTime>
  <Words>287</Words>
  <Application>Microsoft Office PowerPoint</Application>
  <PresentationFormat>Breitbild</PresentationFormat>
  <Paragraphs>84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Sagona Book</vt:lpstr>
      <vt:lpstr>Benutzerdefiniert</vt:lpstr>
      <vt:lpstr>Intro HTML &amp; CSS</vt:lpstr>
      <vt:lpstr>Tagesordnung</vt:lpstr>
      <vt:lpstr>Was sind HTML und CSS ?</vt:lpstr>
      <vt:lpstr>HTML und CSS sind…</vt:lpstr>
      <vt:lpstr>HTML</vt:lpstr>
      <vt:lpstr>Wie funktioniert HTML</vt:lpstr>
      <vt:lpstr>Tags in HTML</vt:lpstr>
      <vt:lpstr>Übung</vt:lpstr>
      <vt:lpstr>CSS</vt:lpstr>
      <vt:lpstr>Wie funktioniert CSS</vt:lpstr>
      <vt:lpstr>HTML und CSS tags</vt:lpstr>
      <vt:lpstr>Übung</vt:lpstr>
      <vt:lpstr>LETZTE TIPPS UND ERKENNTNISSE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Jeanette Loßau / PBG2H24A</dc:creator>
  <cp:lastModifiedBy>Jeanette Loßau / PBG2H24A</cp:lastModifiedBy>
  <cp:revision>12</cp:revision>
  <dcterms:created xsi:type="dcterms:W3CDTF">2025-12-04T19:17:04Z</dcterms:created>
  <dcterms:modified xsi:type="dcterms:W3CDTF">2025-12-04T20:03:06Z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