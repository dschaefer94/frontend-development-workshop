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317" r:id="rId6"/>
    <p:sldId id="307" r:id="rId7"/>
    <p:sldId id="308" r:id="rId8"/>
    <p:sldId id="309" r:id="rId9"/>
    <p:sldId id="263" r:id="rId10"/>
    <p:sldId id="320" r:id="rId11"/>
    <p:sldId id="324" r:id="rId12"/>
    <p:sldId id="322" r:id="rId13"/>
    <p:sldId id="319" r:id="rId14"/>
    <p:sldId id="325" r:id="rId15"/>
    <p:sldId id="326" r:id="rId16"/>
    <p:sldId id="327" r:id="rId17"/>
    <p:sldId id="323" r:id="rId18"/>
    <p:sldId id="328" r:id="rId19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36A58"/>
    <a:srgbClr val="505A47"/>
    <a:srgbClr val="D1D8B7"/>
    <a:srgbClr val="A09D79"/>
    <a:srgbClr val="AD5C4D"/>
    <a:srgbClr val="543E35"/>
    <a:srgbClr val="637700"/>
    <a:srgbClr val="FFF4ED"/>
    <a:srgbClr val="5E6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405" autoAdjust="0"/>
  </p:normalViewPr>
  <p:slideViewPr>
    <p:cSldViewPr snapToGrid="0">
      <p:cViewPr>
        <p:scale>
          <a:sx n="100" d="100"/>
          <a:sy n="100" d="100"/>
        </p:scale>
        <p:origin x="-797" y="-557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36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3961F53F-0880-4BD7-90FD-D0B66FE2430B}" type="datetime1">
              <a:rPr lang="de-DE" smtClean="0"/>
              <a:t>04.12.2025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49E357A0-8177-46BC-BFCE-19D99E3453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6:07.79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07.53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1,'892'891,"-887"-885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17.60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0,'703'703,"-699"-699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04T19:47:49.3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0,'763'763,"-758"-758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6EB0037F-FA90-4F77-BBF7-54A313A9112D}" type="datetime1">
              <a:rPr lang="de-DE" noProof="0" smtClean="0"/>
              <a:t>04.12.2025</a:t>
            </a:fld>
            <a:endParaRPr lang="de-DE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7C366290-4595-5745-A50F-D5EC13BAC604}" type="slidenum">
              <a:rPr lang="de-DE" noProof="0" smtClean="0"/>
              <a:t>‹Nr.›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4737216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87366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6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308133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781A-065B-5BE4-4DD2-1858538EB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E6CA223-A469-EBA4-25CD-DDC38579B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F8E5F76-630F-8D77-27BD-14B91DD2D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8BF18E-C354-2015-21B4-77CC3BC0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7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69443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7242-8519-0C9D-2B43-19BC887D4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01B575C-67AB-BD9B-23E6-A2010399C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3FC5A3F-ED91-6C50-8B21-AA5EAB07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FACFB-3B77-29BA-3E49-60C85E80F5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33700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E374E-F427-2546-58FD-6F306301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7F5515E-25C7-78BD-021E-6B1C014F9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27709FD-631D-1633-36FF-73F18F9BD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FB416E-9915-61E7-91BE-9720620A7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9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98211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747E4-1862-0E87-7BF4-8662EED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36519D1-6741-5959-A7D7-C6667BDD8D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673B97B-D0EC-1F7A-F06D-657E30122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DE9D10-A612-6ECE-9045-C0AC8D8A6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10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00151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34D6C-86F0-3204-9A87-59DC306EE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6D202AD-C896-BA21-F87D-E92B1D40E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C88E2B-F457-E996-8612-7B2F6D09E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6B0689-6D40-FEED-8758-36C75E4B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11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543459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A3C4-9EDB-DD2A-96D3-BE2C81E9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23F9094-AE8A-3BD9-24A6-2B40DD929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A2494C-EBB7-218F-A095-5B3C26B58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20FED37-A60A-FC8C-2CB0-33027B31E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12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607197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361E9-E03A-203D-34CC-CB1C8E09A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A219186-9F4B-E234-B992-8CBAAB3A0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F7DCD0-6BC2-B216-6BA0-4DDF5DDD6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407290-7028-8BF3-1EBE-59BD53F28A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13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92084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26597-B7EC-AA4F-CC14-92D0DED2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F02FFD3-F40E-1069-2C7A-D6E0AEBF6D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F31D2C-DD51-7B6D-894F-72D078FB33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4A7B32-1FDB-0BFA-1B27-51E4AD35A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14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2306175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15B2F-523A-DCC3-6B97-1783763D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EBA227-776F-D49E-CC05-3C583B318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F17017C-E98A-82AA-05E3-E652A66B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68160F-4D1A-53E9-54D1-0DC6399D3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7C366290-4595-5745-A50F-D5EC13BAC604}" type="slidenum">
              <a:rPr lang="de-DE" noProof="0" smtClean="0"/>
              <a:t>15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50003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ihandform: Form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Freihandform: Form 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3" name="Freihandform: Form 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lvl1pPr algn="ctr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agesordn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ihand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: Form 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rtlCol="0" anchor="ctr" anchorCtr="0"/>
          <a:lstStyle>
            <a:lvl1pPr algn="l">
              <a:defRPr lang="de-DE" sz="3200">
                <a:solidFill>
                  <a:schemeClr val="accent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 rtlCol="0"/>
          <a:lstStyle>
            <a:lvl1pPr marL="0" indent="0" algn="r">
              <a:buNone/>
              <a:defRPr lang="de-DE" sz="2400" cap="all" baseline="0"/>
            </a:lvl1pPr>
            <a:lvl2pPr marL="457200" indent="0" algn="r">
              <a:buNone/>
              <a:defRPr lang="de-DE" sz="1800">
                <a:latin typeface="+mj-lt"/>
              </a:defRPr>
            </a:lvl2pPr>
            <a:lvl3pPr marL="914400" indent="0" algn="r">
              <a:buNone/>
              <a:defRPr lang="de-DE"/>
            </a:lvl3pPr>
            <a:lvl4pPr marL="1371600" indent="0" algn="r">
              <a:buNone/>
              <a:defRPr lang="de-DE"/>
            </a:lvl4pPr>
            <a:lvl5pPr marL="1828800" indent="0" algn="r">
              <a:buNone/>
              <a:defRPr lang="de-DE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mit Beschriftung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>
              <a:lnSpc>
                <a:spcPct val="75000"/>
              </a:lnSpc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pic>
        <p:nvPicPr>
          <p:cNvPr id="9" name="Bild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rtlCol="0" anchor="t">
            <a:noAutofit/>
          </a:bodyPr>
          <a:lstStyle>
            <a:lvl1pPr marL="0" indent="0" algn="r">
              <a:buNone/>
              <a:defRPr lang="de-DE" sz="1800"/>
            </a:lvl1pPr>
            <a:lvl2pPr marL="457200" indent="0">
              <a:buNone/>
              <a:defRPr lang="de-DE" sz="2800"/>
            </a:lvl2pPr>
            <a:lvl3pPr marL="914400" indent="0">
              <a:buNone/>
              <a:defRPr lang="de-DE" sz="2400"/>
            </a:lvl3pPr>
            <a:lvl4pPr marL="1371600" indent="0">
              <a:buNone/>
              <a:defRPr lang="de-DE" sz="2000"/>
            </a:lvl4pPr>
            <a:lvl5pPr marL="1828800" indent="0">
              <a:buNone/>
              <a:defRPr lang="de-DE" sz="2000"/>
            </a:lvl5pPr>
            <a:lvl6pPr marL="2286000" indent="0">
              <a:buNone/>
              <a:defRPr lang="de-DE" sz="2000"/>
            </a:lvl6pPr>
            <a:lvl7pPr marL="2743200" indent="0">
              <a:buNone/>
              <a:defRPr lang="de-DE" sz="2000"/>
            </a:lvl7pPr>
            <a:lvl8pPr marL="3200400" indent="0">
              <a:buNone/>
              <a:defRPr lang="de-DE" sz="2000"/>
            </a:lvl8pPr>
            <a:lvl9pPr marL="3657600" indent="0">
              <a:buNone/>
              <a:defRPr lang="de-DE" sz="2000"/>
            </a:lvl9pPr>
          </a:lstStyle>
          <a:p>
            <a:pPr rtl="0"/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überschrift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ihand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Freihandform: Form 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rtlCol="0" anchor="b"/>
          <a:lstStyle>
            <a:lvl1pPr>
              <a:lnSpc>
                <a:spcPct val="75000"/>
              </a:lnSpc>
              <a:defRPr lang="de-DE" sz="48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 rtlCol="0">
            <a:noAutofit/>
          </a:bodyPr>
          <a:lstStyle>
            <a:lvl1pPr marL="0" indent="0">
              <a:buNone/>
              <a:defRPr lang="de-DE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 rtlCol="0">
            <a:noAutofit/>
          </a:bodyPr>
          <a:lstStyle>
            <a:lvl1pPr marL="0" indent="0">
              <a:buFont typeface="Courier New" panose="02070309020205020404" pitchFamily="49" charset="0"/>
              <a:buNone/>
              <a:defRPr lang="de-DE" sz="2400" b="0" cap="all" baseline="0"/>
            </a:lvl1pPr>
            <a:lvl2pPr>
              <a:defRPr lang="de-DE" sz="2400"/>
            </a:lvl2pPr>
            <a:lvl3pPr>
              <a:defRPr lang="de-DE" sz="2400"/>
            </a:lvl3pPr>
            <a:lvl4pPr>
              <a:defRPr lang="de-DE" sz="2400"/>
            </a:lvl4pPr>
            <a:lvl5pPr>
              <a:defRPr lang="de-DE" sz="2400"/>
            </a:lvl5pPr>
          </a:lstStyle>
          <a:p>
            <a:pPr lvl="0" rtl="0"/>
            <a:r>
              <a:rPr lang="de-DE"/>
              <a:t>Klicken Sie, um Text hinzuzufügen.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el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5" name="Freihand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 rtlCol="0">
            <a:normAutofit/>
          </a:bodyPr>
          <a:lstStyle>
            <a:lvl1pPr>
              <a:defRPr lang="de-DE" sz="2000"/>
            </a:lvl1pPr>
            <a:lvl2pPr>
              <a:defRPr lang="de-DE" sz="1800"/>
            </a:lvl2pPr>
            <a:lvl3pPr>
              <a:defRPr lang="de-DE" sz="1600"/>
            </a:lvl3pPr>
            <a:lvl4pPr>
              <a:defRPr lang="de-DE" sz="1400"/>
            </a:lvl4pPr>
            <a:lvl5pPr>
              <a:defRPr lang="de-DE" sz="14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ihandform: Form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4" name="Freihand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pic>
        <p:nvPicPr>
          <p:cNvPr id="6" name="Grafik 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ihandform: Form 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rtlCol="0" anchor="b" anchorCtr="0"/>
          <a:lstStyle>
            <a:lvl1pPr algn="ctr">
              <a:defRPr lang="de-DE" sz="4800" cap="none" baseline="0">
                <a:latin typeface="+mj-lt"/>
              </a:defRPr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2" name="Textplatzhalt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de-DE" sz="2400" cap="all" baseline="0"/>
            </a:lvl1pPr>
          </a:lstStyle>
          <a:p>
            <a:pPr lvl="0" rtl="0"/>
            <a:r>
              <a:rPr lang="de-DE"/>
              <a:t>Klicken Sie, um Text hinzuzufügen.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 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7" name="Freihand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Freihand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el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 rtlCol="0">
            <a:normAutofit/>
          </a:bodyPr>
          <a:lstStyle>
            <a:lvl1pPr marL="228600" indent="-228600">
              <a:buFont typeface="+mj-lt"/>
              <a:buAutoNum type="arabicPeriod"/>
              <a:defRPr lang="de-DE"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lang="de-DE"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lang="de-DE"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lang="de-DE"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inhalt und Bil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0" name="Freihandform: Form 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 rtlCol="0">
            <a:normAutofit/>
          </a:bodyPr>
          <a:lstStyle>
            <a:lvl1pPr marL="0" indent="0" algn="r">
              <a:buNone/>
              <a:defRPr lang="de-DE" sz="2000"/>
            </a:lvl1pPr>
          </a:lstStyle>
          <a:p>
            <a:pPr rtl="0"/>
            <a:r>
              <a:rPr lang="de-DE"/>
              <a:t>Bild durch Klicken auf Symbol hinzufügen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und zwei Inhalte 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ihandform: Form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4" name="Freihandform: Form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6" name="Freihandform: Form 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el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0" name="Inhaltsplatzhalt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Inhal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6" name="Inhaltsplatzhalt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 rtlCol="0"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lang="de-DE"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 rtlCol="0">
            <a:normAutofit/>
          </a:bodyPr>
          <a:lstStyle>
            <a:lvl1pPr marL="0" indent="0">
              <a:buNone/>
              <a:defRPr lang="de-DE"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 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ihand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5" name="Titel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rtlCol="0" anchor="b" anchorCtr="0"/>
          <a:lstStyle>
            <a:lvl1pPr>
              <a:defRPr lang="de-DE" sz="32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7" name="Tabellenplatzhalter 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/>
              <a:t>Tabelle durch Klicken auf Symbol hinzufügen</a:t>
            </a:r>
          </a:p>
        </p:txBody>
      </p: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bemerku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ihand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25" name="Freihandform: Form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3" name="Freihandform: Form 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rtlCol="0" anchor="ctr"/>
          <a:lstStyle>
            <a:lvl1pPr algn="l">
              <a:defRPr lang="de-DE" sz="4800"/>
            </a:lvl1pPr>
          </a:lstStyle>
          <a:p>
            <a:pPr rtl="0"/>
            <a:r>
              <a:rPr lang="de-DE"/>
              <a:t>Titel durch Klicken hinzuzufügen</a:t>
            </a:r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rtlCol="0"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lang="de-DE"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lang="de-DE"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lang="de-DE" sz="2000"/>
            </a:lvl5pPr>
          </a:lstStyle>
          <a:p>
            <a:pPr lvl="0" rtl="0"/>
            <a:r>
              <a:rPr lang="de-DE"/>
              <a:t>Mastertextformat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ihandform: Form 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e-DE"/>
              </a:defPPr>
            </a:lstStyle>
            <a:p>
              <a:pPr lvl="0" rtl="0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ihandform: Form 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de-DE"/>
            </a:defPPr>
          </a:lstStyle>
          <a:p>
            <a:pPr lvl="0" rtl="0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774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400">
                <a:solidFill>
                  <a:schemeClr val="tx1"/>
                </a:solidFill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pPr rtl="0"/>
            <a:fld id="{58FB4751-880F-D840-AAA9-3A15815CC996}" type="slidenum">
              <a:rPr lang="de-DE" smtClean="0"/>
              <a:pPr/>
              <a:t>‹Nr.›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  <p:sldLayoutId id="2147483683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Relationship Id="rId9" Type="http://schemas.openxmlformats.org/officeDocument/2006/relationships/customXml" Target="../ink/ink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558166" y="3239135"/>
            <a:ext cx="956772" cy="825500"/>
          </a:xfrm>
          <a:custGeom>
            <a:avLst/>
            <a:gdLst/>
            <a:ahLst/>
            <a:cxnLst/>
            <a:rect l="0" t="0" r="0" b="0"/>
            <a:pathLst>
              <a:path w="956772" h="825500">
                <a:moveTo>
                  <a:pt x="5732" y="428636"/>
                </a:moveTo>
                <a:cubicBezTo>
                  <a:pt x="0" y="418803"/>
                  <a:pt x="0" y="406696"/>
                  <a:pt x="5732" y="396863"/>
                </a:cubicBezTo>
                <a:lnTo>
                  <a:pt x="228149" y="15886"/>
                </a:lnTo>
                <a:cubicBezTo>
                  <a:pt x="233891" y="6053"/>
                  <a:pt x="244494" y="0"/>
                  <a:pt x="255969" y="0"/>
                </a:cubicBezTo>
                <a:lnTo>
                  <a:pt x="700803" y="0"/>
                </a:lnTo>
                <a:cubicBezTo>
                  <a:pt x="712278" y="0"/>
                  <a:pt x="722881" y="6053"/>
                  <a:pt x="728622" y="15886"/>
                </a:cubicBezTo>
                <a:lnTo>
                  <a:pt x="951040" y="396863"/>
                </a:lnTo>
                <a:cubicBezTo>
                  <a:pt x="956772" y="406696"/>
                  <a:pt x="956772" y="418803"/>
                  <a:pt x="951040" y="428636"/>
                </a:cubicBezTo>
                <a:lnTo>
                  <a:pt x="728622" y="809613"/>
                </a:lnTo>
                <a:cubicBezTo>
                  <a:pt x="722881" y="819446"/>
                  <a:pt x="712278" y="825500"/>
                  <a:pt x="700803" y="825500"/>
                </a:cubicBezTo>
                <a:lnTo>
                  <a:pt x="255969" y="825500"/>
                </a:lnTo>
                <a:cubicBezTo>
                  <a:pt x="244494" y="825500"/>
                  <a:pt x="233891" y="819446"/>
                  <a:pt x="228149" y="809613"/>
                </a:cubicBezTo>
                <a:lnTo>
                  <a:pt x="5732" y="428636"/>
                </a:lnTo>
              </a:path>
            </a:pathLst>
          </a:custGeom>
          <a:solidFill>
            <a:srgbClr val="69425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58163" y="3239135"/>
            <a:ext cx="956780" cy="825500"/>
          </a:xfrm>
          <a:custGeom>
            <a:avLst/>
            <a:gdLst/>
            <a:ahLst/>
            <a:cxnLst/>
            <a:rect l="0" t="0" r="0" b="0"/>
            <a:pathLst>
              <a:path w="956780" h="825500">
                <a:moveTo>
                  <a:pt x="5739" y="428637"/>
                </a:moveTo>
                <a:cubicBezTo>
                  <a:pt x="0" y="418806"/>
                  <a:pt x="0" y="406693"/>
                  <a:pt x="5739" y="396863"/>
                </a:cubicBezTo>
                <a:lnTo>
                  <a:pt x="228152" y="15887"/>
                </a:lnTo>
                <a:cubicBezTo>
                  <a:pt x="233891" y="6056"/>
                  <a:pt x="244498" y="0"/>
                  <a:pt x="255976" y="0"/>
                </a:cubicBezTo>
                <a:lnTo>
                  <a:pt x="700803" y="0"/>
                </a:lnTo>
                <a:cubicBezTo>
                  <a:pt x="712281" y="0"/>
                  <a:pt x="722888" y="6056"/>
                  <a:pt x="728627" y="15887"/>
                </a:cubicBezTo>
                <a:lnTo>
                  <a:pt x="951041" y="396862"/>
                </a:lnTo>
                <a:cubicBezTo>
                  <a:pt x="956780" y="406693"/>
                  <a:pt x="956780" y="418806"/>
                  <a:pt x="951041" y="428636"/>
                </a:cubicBezTo>
                <a:lnTo>
                  <a:pt x="728627" y="809612"/>
                </a:lnTo>
                <a:cubicBezTo>
                  <a:pt x="722888" y="819443"/>
                  <a:pt x="712281" y="825500"/>
                  <a:pt x="700803" y="825500"/>
                </a:cubicBezTo>
                <a:lnTo>
                  <a:pt x="255976" y="825500"/>
                </a:lnTo>
                <a:cubicBezTo>
                  <a:pt x="244498" y="825500"/>
                  <a:pt x="233891" y="819443"/>
                  <a:pt x="228152" y="809612"/>
                </a:cubicBezTo>
                <a:lnTo>
                  <a:pt x="5739" y="428637"/>
                </a:lnTo>
                <a:close/>
              </a:path>
            </a:pathLst>
          </a:custGeom>
          <a:noFill/>
          <a:ln w="13758">
            <a:solidFill>
              <a:srgbClr val="F366BB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63609" y="3172802"/>
            <a:ext cx="904289" cy="901005"/>
          </a:xfrm>
          <a:custGeom>
            <a:avLst/>
            <a:gdLst/>
            <a:ahLst/>
            <a:cxnLst/>
            <a:rect l="0" t="0" r="0" b="0"/>
            <a:pathLst>
              <a:path w="904289" h="901005">
                <a:moveTo>
                  <a:pt x="433396" y="8511"/>
                </a:moveTo>
                <a:cubicBezTo>
                  <a:pt x="444577" y="0"/>
                  <a:pt x="459711" y="0"/>
                  <a:pt x="470892" y="8511"/>
                </a:cubicBezTo>
                <a:lnTo>
                  <a:pt x="888430" y="326320"/>
                </a:lnTo>
                <a:cubicBezTo>
                  <a:pt x="899611" y="334831"/>
                  <a:pt x="904289" y="349911"/>
                  <a:pt x="900024" y="363678"/>
                </a:cubicBezTo>
                <a:lnTo>
                  <a:pt x="740537" y="877919"/>
                </a:lnTo>
                <a:cubicBezTo>
                  <a:pt x="736263" y="891686"/>
                  <a:pt x="724018" y="901005"/>
                  <a:pt x="710195" y="901005"/>
                </a:cubicBezTo>
                <a:lnTo>
                  <a:pt x="194093" y="901005"/>
                </a:lnTo>
                <a:cubicBezTo>
                  <a:pt x="180270" y="901005"/>
                  <a:pt x="168025" y="891686"/>
                  <a:pt x="163751" y="877919"/>
                </a:cubicBezTo>
                <a:lnTo>
                  <a:pt x="4265" y="363678"/>
                </a:lnTo>
                <a:cubicBezTo>
                  <a:pt x="0" y="349911"/>
                  <a:pt x="4677" y="334831"/>
                  <a:pt x="15858" y="326320"/>
                </a:cubicBezTo>
                <a:lnTo>
                  <a:pt x="433396" y="8511"/>
                </a:lnTo>
              </a:path>
            </a:pathLst>
          </a:custGeom>
          <a:solidFill>
            <a:srgbClr val="68403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63608" y="3172802"/>
            <a:ext cx="904291" cy="901004"/>
          </a:xfrm>
          <a:custGeom>
            <a:avLst/>
            <a:gdLst/>
            <a:ahLst/>
            <a:cxnLst/>
            <a:rect l="0" t="0" r="0" b="0"/>
            <a:pathLst>
              <a:path w="904291" h="901004">
                <a:moveTo>
                  <a:pt x="433396" y="8509"/>
                </a:moveTo>
                <a:cubicBezTo>
                  <a:pt x="444576" y="0"/>
                  <a:pt x="459714" y="0"/>
                  <a:pt x="470894" y="8509"/>
                </a:cubicBezTo>
                <a:lnTo>
                  <a:pt x="888434" y="326321"/>
                </a:lnTo>
                <a:cubicBezTo>
                  <a:pt x="899613" y="334831"/>
                  <a:pt x="904291" y="349913"/>
                  <a:pt x="900021" y="363682"/>
                </a:cubicBezTo>
                <a:lnTo>
                  <a:pt x="740534" y="877914"/>
                </a:lnTo>
                <a:cubicBezTo>
                  <a:pt x="736265" y="891683"/>
                  <a:pt x="724017" y="901004"/>
                  <a:pt x="710199" y="901004"/>
                </a:cubicBezTo>
                <a:lnTo>
                  <a:pt x="194091" y="901004"/>
                </a:lnTo>
                <a:cubicBezTo>
                  <a:pt x="180273" y="901004"/>
                  <a:pt x="168025" y="891683"/>
                  <a:pt x="163756" y="877914"/>
                </a:cubicBezTo>
                <a:lnTo>
                  <a:pt x="4269" y="363682"/>
                </a:lnTo>
                <a:cubicBezTo>
                  <a:pt x="0" y="349914"/>
                  <a:pt x="4677" y="334831"/>
                  <a:pt x="15856" y="326321"/>
                </a:cubicBezTo>
                <a:lnTo>
                  <a:pt x="433396" y="8509"/>
                </a:lnTo>
                <a:close/>
              </a:path>
            </a:pathLst>
          </a:custGeom>
          <a:noFill/>
          <a:ln w="13758">
            <a:solidFill>
              <a:srgbClr val="FB676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0"/>
                </a:moveTo>
                <a:cubicBezTo>
                  <a:pt x="0" y="16812"/>
                  <a:pt x="16812" y="0"/>
                  <a:pt x="37560" y="0"/>
                </a:cubicBezTo>
                <a:lnTo>
                  <a:pt x="751250" y="0"/>
                </a:lnTo>
                <a:cubicBezTo>
                  <a:pt x="771989" y="0"/>
                  <a:pt x="788811" y="16812"/>
                  <a:pt x="788811" y="37560"/>
                </a:cubicBezTo>
                <a:lnTo>
                  <a:pt x="788811" y="751250"/>
                </a:lnTo>
                <a:cubicBezTo>
                  <a:pt x="788811" y="771989"/>
                  <a:pt x="771989" y="788811"/>
                  <a:pt x="751250" y="788811"/>
                </a:cubicBezTo>
                <a:lnTo>
                  <a:pt x="37560" y="788811"/>
                </a:lnTo>
                <a:cubicBezTo>
                  <a:pt x="16812" y="788811"/>
                  <a:pt x="0" y="771989"/>
                  <a:pt x="0" y="751250"/>
                </a:cubicBezTo>
                <a:lnTo>
                  <a:pt x="0" y="37560"/>
                </a:lnTo>
              </a:path>
            </a:pathLst>
          </a:custGeom>
          <a:solidFill>
            <a:srgbClr val="5C493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45515" y="3284997"/>
            <a:ext cx="788811" cy="788811"/>
          </a:xfrm>
          <a:custGeom>
            <a:avLst/>
            <a:gdLst/>
            <a:ahLst/>
            <a:cxnLst/>
            <a:rect l="0" t="0" r="0" b="0"/>
            <a:pathLst>
              <a:path w="788811" h="788811">
                <a:moveTo>
                  <a:pt x="0" y="37562"/>
                </a:moveTo>
                <a:cubicBezTo>
                  <a:pt x="0" y="16817"/>
                  <a:pt x="16817" y="0"/>
                  <a:pt x="37562" y="0"/>
                </a:cubicBezTo>
                <a:lnTo>
                  <a:pt x="751249" y="0"/>
                </a:lnTo>
                <a:cubicBezTo>
                  <a:pt x="771993" y="0"/>
                  <a:pt x="788811" y="16817"/>
                  <a:pt x="788811" y="37562"/>
                </a:cubicBezTo>
                <a:lnTo>
                  <a:pt x="788811" y="751249"/>
                </a:lnTo>
                <a:cubicBezTo>
                  <a:pt x="788811" y="771993"/>
                  <a:pt x="771993" y="788811"/>
                  <a:pt x="751249" y="788811"/>
                </a:cubicBezTo>
                <a:lnTo>
                  <a:pt x="37562" y="788811"/>
                </a:lnTo>
                <a:cubicBezTo>
                  <a:pt x="16817" y="788811"/>
                  <a:pt x="0" y="771993"/>
                  <a:pt x="0" y="751249"/>
                </a:cubicBezTo>
                <a:lnTo>
                  <a:pt x="0" y="37562"/>
                </a:lnTo>
                <a:close/>
              </a:path>
            </a:pathLst>
          </a:custGeom>
          <a:noFill/>
          <a:ln w="13758">
            <a:solidFill>
              <a:srgbClr val="F7943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531727" y="3204584"/>
            <a:ext cx="974787" cy="850879"/>
          </a:xfrm>
          <a:custGeom>
            <a:avLst/>
            <a:gdLst/>
            <a:ahLst/>
            <a:cxnLst/>
            <a:rect l="0" t="0" r="0" b="0"/>
            <a:pathLst>
              <a:path w="974787" h="850879">
                <a:moveTo>
                  <a:pt x="451144" y="28131"/>
                </a:moveTo>
                <a:cubicBezTo>
                  <a:pt x="467251" y="0"/>
                  <a:pt x="507535" y="0"/>
                  <a:pt x="523642" y="28131"/>
                </a:cubicBezTo>
                <a:lnTo>
                  <a:pt x="958680" y="787591"/>
                </a:lnTo>
                <a:cubicBezTo>
                  <a:pt x="974787" y="815722"/>
                  <a:pt x="954654" y="850879"/>
                  <a:pt x="922422" y="850879"/>
                </a:cubicBezTo>
                <a:lnTo>
                  <a:pt x="52364" y="850879"/>
                </a:lnTo>
                <a:cubicBezTo>
                  <a:pt x="20133" y="850879"/>
                  <a:pt x="0" y="815722"/>
                  <a:pt x="16106" y="787591"/>
                </a:cubicBezTo>
                <a:lnTo>
                  <a:pt x="451144" y="28131"/>
                </a:lnTo>
              </a:path>
            </a:pathLst>
          </a:custGeom>
          <a:solidFill>
            <a:srgbClr val="54502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1722" y="3204586"/>
            <a:ext cx="974794" cy="850876"/>
          </a:xfrm>
          <a:custGeom>
            <a:avLst/>
            <a:gdLst/>
            <a:ahLst/>
            <a:cxnLst/>
            <a:rect l="0" t="0" r="0" b="0"/>
            <a:pathLst>
              <a:path w="974794" h="850876">
                <a:moveTo>
                  <a:pt x="451144" y="28128"/>
                </a:moveTo>
                <a:cubicBezTo>
                  <a:pt x="467256" y="0"/>
                  <a:pt x="507537" y="0"/>
                  <a:pt x="523649" y="28128"/>
                </a:cubicBezTo>
                <a:lnTo>
                  <a:pt x="958681" y="787588"/>
                </a:lnTo>
                <a:cubicBezTo>
                  <a:pt x="974794" y="815716"/>
                  <a:pt x="954654" y="850876"/>
                  <a:pt x="922429" y="850876"/>
                </a:cubicBezTo>
                <a:lnTo>
                  <a:pt x="52365" y="850876"/>
                </a:lnTo>
                <a:cubicBezTo>
                  <a:pt x="20140" y="850876"/>
                  <a:pt x="0" y="815716"/>
                  <a:pt x="16112" y="787588"/>
                </a:cubicBezTo>
                <a:lnTo>
                  <a:pt x="451144" y="28128"/>
                </a:lnTo>
                <a:close/>
              </a:path>
            </a:pathLst>
          </a:custGeom>
          <a:noFill/>
          <a:ln w="13758">
            <a:solidFill>
              <a:srgbClr val="FFE71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" name="Group 11"/>
          <p:cNvGrpSpPr/>
          <p:nvPr/>
        </p:nvGrpSpPr>
        <p:grpSpPr>
          <a:xfrm>
            <a:off x="7976934" y="4170115"/>
            <a:ext cx="119238" cy="536574"/>
            <a:chOff x="5168547" y="3746852"/>
            <a:chExt cx="119238" cy="536574"/>
          </a:xfrm>
        </p:grpSpPr>
        <p:sp>
          <p:nvSpPr>
            <p:cNvPr id="10" name="Rounded Rectangle 9"/>
            <p:cNvSpPr/>
            <p:nvPr/>
          </p:nvSpPr>
          <p:spPr>
            <a:xfrm>
              <a:off x="5228166" y="3751438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168547" y="374685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646961" y="2514530"/>
            <a:ext cx="119238" cy="536575"/>
            <a:chOff x="3838574" y="2091266"/>
            <a:chExt cx="119238" cy="536575"/>
          </a:xfrm>
        </p:grpSpPr>
        <p:sp>
          <p:nvSpPr>
            <p:cNvPr id="13" name="Rounded Rectangle 12"/>
            <p:cNvSpPr/>
            <p:nvPr/>
          </p:nvSpPr>
          <p:spPr>
            <a:xfrm>
              <a:off x="3898194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838574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5280300" y="4179288"/>
            <a:ext cx="119238" cy="536574"/>
            <a:chOff x="2471913" y="3756025"/>
            <a:chExt cx="119238" cy="536574"/>
          </a:xfrm>
        </p:grpSpPr>
        <p:sp>
          <p:nvSpPr>
            <p:cNvPr id="16" name="Rounded Rectangle 15"/>
            <p:cNvSpPr/>
            <p:nvPr/>
          </p:nvSpPr>
          <p:spPr>
            <a:xfrm>
              <a:off x="2531533" y="3760611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531988"/>
                  </a:moveTo>
                  <a:lnTo>
                    <a:pt x="0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2471913" y="3756025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119238" y="59619"/>
                  </a:moveTo>
                  <a:lnTo>
                    <a:pt x="59619" y="0"/>
                  </a:lnTo>
                  <a:lnTo>
                    <a:pt x="0" y="59619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959500" y="2514530"/>
            <a:ext cx="119238" cy="536575"/>
            <a:chOff x="1151113" y="2091266"/>
            <a:chExt cx="119238" cy="536575"/>
          </a:xfrm>
        </p:grpSpPr>
        <p:sp>
          <p:nvSpPr>
            <p:cNvPr id="19" name="Rounded Rectangle 18"/>
            <p:cNvSpPr/>
            <p:nvPr/>
          </p:nvSpPr>
          <p:spPr>
            <a:xfrm>
              <a:off x="1210733" y="2091266"/>
              <a:ext cx="9172" cy="531988"/>
            </a:xfrm>
            <a:custGeom>
              <a:avLst/>
              <a:gdLst/>
              <a:ahLst/>
              <a:cxnLst/>
              <a:rect l="0" t="0" r="0" b="0"/>
              <a:pathLst>
                <a:path w="9172" h="531988">
                  <a:moveTo>
                    <a:pt x="0" y="0"/>
                  </a:moveTo>
                  <a:lnTo>
                    <a:pt x="0" y="531988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151113" y="2568222"/>
              <a:ext cx="119238" cy="59619"/>
            </a:xfrm>
            <a:custGeom>
              <a:avLst/>
              <a:gdLst/>
              <a:ahLst/>
              <a:cxnLst/>
              <a:rect l="0" t="0" r="0" b="0"/>
              <a:pathLst>
                <a:path w="119238" h="59619">
                  <a:moveTo>
                    <a:pt x="0" y="0"/>
                  </a:moveTo>
                  <a:lnTo>
                    <a:pt x="59619" y="59619"/>
                  </a:lnTo>
                  <a:lnTo>
                    <a:pt x="119238" y="0"/>
                  </a:lnTo>
                </a:path>
              </a:pathLst>
            </a:custGeom>
            <a:noFill/>
            <a:ln w="13758">
              <a:solidFill>
                <a:srgbClr val="ABABAB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4909975" y="915812"/>
            <a:ext cx="2290692" cy="2769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b="1">
                <a:solidFill>
                  <a:srgbClr val="F4F4F4"/>
                </a:solidFill>
                <a:latin typeface="Roboto"/>
              </a:rPr>
              <a:t>Frontend-Entwicklung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5195" y="1542275"/>
            <a:ext cx="987848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FE711"/>
                </a:solidFill>
                <a:latin typeface="Roboto"/>
              </a:rPr>
              <a:t>Rohmaterial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6786" y="1542275"/>
            <a:ext cx="1017960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B6762"/>
                </a:solidFill>
                <a:latin typeface="Roboto"/>
              </a:rPr>
              <a:t>Interaktivität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4287" y="1869723"/>
            <a:ext cx="889667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HTML, CSS und
JavaScript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8034" y="1869723"/>
            <a:ext cx="995464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Steuerung von
Benutzeraktionen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417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FE711"/>
                </a:solidFill>
                <a:latin typeface="Roboto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2599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79438"/>
                </a:solidFill>
                <a:latin typeface="Roboto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4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B6762"/>
                </a:solidFill>
                <a:latin typeface="Roboto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9232" y="3532646"/>
            <a:ext cx="154707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100">
                <a:solidFill>
                  <a:srgbClr val="F366BB"/>
                </a:solidFill>
                <a:latin typeface="Robot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5805" y="5064407"/>
            <a:ext cx="928228" cy="4402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79438"/>
                </a:solidFill>
                <a:latin typeface="Roboto"/>
              </a:rPr>
              <a:t>Design-
Umsetzung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7917" y="5064408"/>
            <a:ext cx="697244" cy="2201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400">
                <a:solidFill>
                  <a:srgbClr val="F366BB"/>
                </a:solidFill>
                <a:latin typeface="Roboto"/>
              </a:rPr>
              <a:t>Usability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6654" y="5391856"/>
            <a:ext cx="1139735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>
                <a:solidFill>
                  <a:srgbClr val="F4F4F4"/>
                </a:solidFill>
                <a:latin typeface="Roboto"/>
              </a:rPr>
              <a:t>Benutzerfreundliche
Oberfläche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8104" y="5611990"/>
            <a:ext cx="1083630" cy="307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00" dirty="0">
                <a:solidFill>
                  <a:srgbClr val="F4F4F4"/>
                </a:solidFill>
                <a:latin typeface="Roboto"/>
              </a:rPr>
              <a:t>Layout, Farben und
Schriftarten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rtlCol="0" anchor="ctr"/>
          <a:lstStyle>
            <a:defPPr>
              <a:defRPr lang="de-DE"/>
            </a:defPPr>
          </a:lstStyle>
          <a:p>
            <a:pPr rtl="0"/>
            <a:r>
              <a:rPr lang="de-DE" dirty="0"/>
              <a:t>Intro HTML &amp; CSS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67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Tagesordnung</a:t>
            </a:r>
          </a:p>
        </p:txBody>
      </p:sp>
      <p:graphicFrame>
        <p:nvGraphicFramePr>
          <p:cNvPr id="6" name="Tabel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9289178"/>
              </p:ext>
            </p:extLst>
          </p:nvPr>
        </p:nvGraphicFramePr>
        <p:xfrm>
          <a:off x="6869113" y="1143000"/>
          <a:ext cx="4190999" cy="4614818"/>
        </p:xfrm>
        <a:graphic>
          <a:graphicData uri="http://schemas.openxmlformats.org/drawingml/2006/table">
            <a:tbl>
              <a:tblPr firstRow="1" bandRow="1"/>
              <a:tblGrid>
                <a:gridCol w="4190999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>
                          <a:latin typeface="+mn-lt"/>
                          <a:cs typeface="Gill Sans Light" panose="020B0302020104020203" pitchFamily="34" charset="-79"/>
                        </a:rPr>
                        <a:t>Was sind HTML und CSS ?</a:t>
                      </a:r>
                    </a:p>
                    <a:p>
                      <a:pPr algn="r" rtl="0"/>
                      <a:r>
                        <a:rPr lang="de-DE" sz="2400" b="0" dirty="0">
                          <a:latin typeface="+mj-lt"/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Wie funktioniert HTML ?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algn="r" rtl="0"/>
                      <a:r>
                        <a:rPr lang="de-DE" sz="2400" b="0" dirty="0"/>
                        <a:t>Übung HTML: Visitenkarte</a:t>
                      </a: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Wie funktioniert CSS ?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 6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  <a:tr h="854835">
                <a:tc>
                  <a:txBody>
                    <a:bodyPr/>
                    <a:lstStyle>
                      <a:defPPr>
                        <a:defRPr lang="de-DE"/>
                      </a:def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lang="de-DE"/>
                      </a:pPr>
                      <a:r>
                        <a:rPr lang="de-DE" sz="2400" b="0" dirty="0"/>
                        <a:t>Übung CSS: Visitenkarte</a:t>
                      </a:r>
                      <a:endParaRPr lang="de-DE" sz="2400" b="0" dirty="0">
                        <a:latin typeface="+mn-lt"/>
                        <a:cs typeface="Gill Sans Light" panose="020B0302020104020203" pitchFamily="34" charset="-79"/>
                      </a:endParaRPr>
                    </a:p>
                    <a:p>
                      <a:pPr marL="0" algn="r" defTabSz="914400" rtl="0" eaLnBrk="1" latinLnBrk="0" hangingPunct="1"/>
                      <a:r>
                        <a:rPr lang="de-DE" sz="2400" b="0" kern="1200" dirty="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5637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03EE45-3924-5A20-4FDE-7EA6BBEBD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5641848" cy="5029200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Was sind HTML und CSS ?</a:t>
            </a:r>
          </a:p>
        </p:txBody>
      </p:sp>
      <p:pic>
        <p:nvPicPr>
          <p:cNvPr id="6" name="Bildplatzhalter 5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93CA388F-1F41-9B55-6BE8-6A9CDC80B14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29549" r="2954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2223244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7BE12AD-D808-BDE0-3EB8-5BC50B1D8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HTML und CSS sind…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CFDA37B-399A-B9F0-7A7D-2A891EB7F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TEXT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0CD348E-9357-0442-4555-AF6B4AFE34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66913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2A3D95EF-8A67-7F71-37EF-9EB02511B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HTML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C7846849-DC0A-EE3B-2E5E-D669EC1273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Die Grundlage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6717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319B3-B216-2D3A-24C4-94B76D02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36A0DC9E-9A6C-9637-0AD9-5486FAD0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72A5B79D-316C-6D0A-9A30-7C98FDD285C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HTML ist eine Programmiersprache für Webseiten</a:t>
            </a:r>
          </a:p>
          <a:p>
            <a:pPr rtl="0"/>
            <a:r>
              <a:rPr lang="de-DE" sz="2200" dirty="0"/>
              <a:t>Sie beschreibt das „Grundgerüst“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Nicht das aussehen, nur was drin ist!</a:t>
            </a:r>
          </a:p>
          <a:p>
            <a:pPr rtl="0"/>
            <a:r>
              <a:rPr lang="de-DE" sz="2200" dirty="0"/>
              <a:t>Benutzt „Tags“ um Inhalte zu definieren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&lt;title&gt;Ich bin ein Titel &lt;/title&gt;</a:t>
            </a:r>
          </a:p>
          <a:p>
            <a:pPr marL="457200" lvl="1" indent="0">
              <a:buNone/>
            </a:pPr>
            <a:r>
              <a:rPr lang="de-DE" sz="2200" dirty="0"/>
              <a:t>&lt;p&gt; Ich bin ein Paragraf &lt;/p&gt;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4A5C6-8EA8-665D-B655-7528B46629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06053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BBEE0-60C5-DF5E-0B2B-D1B6253B9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8DF6054A-D1D0-2D59-B5D4-E17C36005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Tags in HTML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7048094-216E-09DC-A779-DB59D7DB5F7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>
                <a:solidFill>
                  <a:srgbClr val="00B050"/>
                </a:solidFill>
              </a:rPr>
              <a:t>&lt;p 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(</a:t>
            </a:r>
            <a:r>
              <a:rPr lang="de-DE" sz="3000" dirty="0" err="1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3000" dirty="0">
                <a:solidFill>
                  <a:schemeClr val="tx2">
                    <a:lumMod val="75000"/>
                  </a:schemeClr>
                </a:solidFill>
              </a:rPr>
              <a:t>)&gt; </a:t>
            </a:r>
            <a:r>
              <a:rPr lang="de-DE" sz="3000" dirty="0">
                <a:solidFill>
                  <a:schemeClr val="accent1">
                    <a:lumMod val="50000"/>
                  </a:schemeClr>
                </a:solidFill>
              </a:rPr>
              <a:t>Ich bin ein Paragraf </a:t>
            </a:r>
            <a:r>
              <a:rPr lang="de-DE" sz="3000" dirty="0">
                <a:solidFill>
                  <a:srgbClr val="0070C0"/>
                </a:solidFill>
              </a:rPr>
              <a:t>&lt;/p&gt;</a:t>
            </a:r>
          </a:p>
          <a:p>
            <a:pPr marL="457200" lvl="1" indent="0" algn="just">
              <a:buNone/>
            </a:pPr>
            <a:endParaRPr lang="de-DE" sz="22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r>
              <a:rPr lang="de-DE" sz="2200" dirty="0">
                <a:solidFill>
                  <a:srgbClr val="00B050"/>
                </a:solidFill>
              </a:rPr>
              <a:t>Öffnet tag	</a:t>
            </a:r>
            <a:r>
              <a:rPr lang="de-DE" sz="2200" dirty="0">
                <a:solidFill>
                  <a:schemeClr val="tx2">
                    <a:lumMod val="75000"/>
                  </a:schemeClr>
                </a:solidFill>
              </a:rPr>
              <a:t>Attribute</a:t>
            </a:r>
            <a:r>
              <a:rPr lang="de-DE" sz="2200" dirty="0">
                <a:solidFill>
                  <a:srgbClr val="00B050"/>
                </a:solidFill>
              </a:rPr>
              <a:t>	</a:t>
            </a:r>
            <a:r>
              <a:rPr lang="de-DE" sz="2200" dirty="0">
                <a:solidFill>
                  <a:schemeClr val="accent1">
                    <a:lumMod val="50000"/>
                  </a:schemeClr>
                </a:solidFill>
              </a:rPr>
              <a:t>Inhalt		</a:t>
            </a:r>
            <a:r>
              <a:rPr lang="de-DE" sz="2200" dirty="0">
                <a:solidFill>
                  <a:srgbClr val="0070C0"/>
                </a:solidFill>
              </a:rPr>
              <a:t>Schließt Tag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742DBCF-3748-1B03-DC1B-0B1C4DD474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8</a:t>
            </a:fld>
            <a:endParaRPr lang="de-DE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14:cNvPr>
              <p14:cNvContentPartPr/>
              <p14:nvPr/>
            </p14:nvContentPartPr>
            <p14:xfrm rot="2700000">
              <a:off x="3215024" y="2920609"/>
              <a:ext cx="276592" cy="276592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935BDDAE-4276-134D-1DE8-E5372A6BC1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3208909" y="2914494"/>
                <a:ext cx="288821" cy="28882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14:cNvPr>
              <p14:cNvContentPartPr/>
              <p14:nvPr/>
            </p14:nvContentPartPr>
            <p14:xfrm rot="2700000">
              <a:off x="4792136" y="2930281"/>
              <a:ext cx="323290" cy="323290"/>
            </p14:xfrm>
          </p:contentPart>
        </mc:Choice>
        <mc:Fallback>
          <p:pic>
            <p:nvPicPr>
              <p:cNvPr id="10" name="Freihand 9">
                <a:extLst>
                  <a:ext uri="{FF2B5EF4-FFF2-40B4-BE49-F238E27FC236}">
                    <a16:creationId xmlns:a16="http://schemas.microsoft.com/office/drawing/2014/main" id="{1199DF45-0C84-607F-3FC5-9BDF5E6FE12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 rot="2700000">
                <a:off x="4786016" y="2924161"/>
                <a:ext cx="335530" cy="3355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14:cNvPr>
              <p14:cNvContentPartPr/>
              <p14:nvPr/>
            </p14:nvContentPartPr>
            <p14:xfrm rot="2700000">
              <a:off x="7110755" y="2947475"/>
              <a:ext cx="254614" cy="254614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6F54E103-443E-462D-2B74-E50C9FE48302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 rot="2700000">
                <a:off x="7104641" y="2941361"/>
                <a:ext cx="266841" cy="26684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14:cNvPr>
              <p14:cNvContentPartPr/>
              <p14:nvPr/>
            </p14:nvContentPartPr>
            <p14:xfrm rot="2700000">
              <a:off x="1843164" y="2953630"/>
              <a:ext cx="276592" cy="276592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3E452782-4532-5044-187C-6CF79F60F2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2700000">
                <a:off x="1837049" y="2947515"/>
                <a:ext cx="288821" cy="2888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111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59F5-1E88-4FA1-62CB-B7A500889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5ECF6636-46DE-1964-3771-EC0468421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80DDD57-D94A-22BC-055E-F39D31A2DB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Baue dir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100621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159C-7518-AC7A-EE04-786BCFE5E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4EDBE11-50A0-5079-091A-2B0842498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CSS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7B9B256-8E86-A99F-D49E-0EB2352A4A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Das design der </a:t>
            </a:r>
            <a:r>
              <a:rPr lang="de-DE" dirty="0" err="1"/>
              <a:t>seite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5444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B7937-510D-ECA9-E951-FC155760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310466A-BB5C-66C4-FAB0-31FB86A7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sz="3200" dirty="0"/>
              <a:t>Wie funktioniert CSS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FFADC25-8592-3019-D5DB-4B459E52FD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053943" cy="3356576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rtl="0"/>
            <a:r>
              <a:rPr lang="de-DE" sz="2200" dirty="0"/>
              <a:t>CSS ist eine Programmiersprache für Webseiten</a:t>
            </a:r>
          </a:p>
          <a:p>
            <a:pPr rtl="0"/>
            <a:r>
              <a:rPr lang="de-DE" sz="2200" dirty="0"/>
              <a:t>Sie beschreibt das Design der Seite</a:t>
            </a:r>
          </a:p>
          <a:p>
            <a:pPr lvl="1"/>
            <a:r>
              <a:rPr lang="de-DE" sz="2000" dirty="0">
                <a:solidFill>
                  <a:srgbClr val="FF0000"/>
                </a:solidFill>
              </a:rPr>
              <a:t>Nur das Aussehen, Nicht was Drin ist!</a:t>
            </a:r>
          </a:p>
          <a:p>
            <a:pPr rtl="0"/>
            <a:r>
              <a:rPr lang="de-DE" sz="2200" dirty="0"/>
              <a:t>Benutzt die HTML Tags um deren Inhalte zu verändern</a:t>
            </a:r>
          </a:p>
          <a:p>
            <a:pPr rtl="0"/>
            <a:endParaRPr lang="de-DE" sz="2200" dirty="0"/>
          </a:p>
          <a:p>
            <a:pPr marL="457200" lvl="1" indent="0">
              <a:buNone/>
            </a:pPr>
            <a:r>
              <a:rPr lang="de-DE" sz="2200" dirty="0"/>
              <a:t>p</a:t>
            </a:r>
          </a:p>
          <a:p>
            <a:pPr marL="457200" lvl="1" indent="0">
              <a:buNone/>
            </a:pPr>
            <a:r>
              <a:rPr lang="de-DE" sz="2200" dirty="0"/>
              <a:t>{</a:t>
            </a:r>
          </a:p>
          <a:p>
            <a:pPr marL="457200" lvl="1" indent="0">
              <a:buNone/>
            </a:pPr>
            <a:r>
              <a:rPr lang="de-DE" sz="2200" dirty="0"/>
              <a:t>	</a:t>
            </a:r>
            <a:r>
              <a:rPr lang="de-DE" sz="2200" dirty="0" err="1"/>
              <a:t>color</a:t>
            </a:r>
            <a:r>
              <a:rPr lang="de-DE" sz="2200" dirty="0"/>
              <a:t> = </a:t>
            </a:r>
            <a:r>
              <a:rPr lang="de-DE" sz="2200" dirty="0" err="1"/>
              <a:t>black</a:t>
            </a:r>
            <a:r>
              <a:rPr lang="de-DE" sz="2200" dirty="0"/>
              <a:t>;</a:t>
            </a:r>
          </a:p>
          <a:p>
            <a:pPr marL="457200" lvl="1" indent="0">
              <a:buNone/>
            </a:pPr>
            <a:r>
              <a:rPr lang="de-DE" sz="2200" dirty="0"/>
              <a:t>}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D17B245-53A4-D1C2-DBB7-C7F7C186BD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98387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044E9-3751-D960-276F-C7D9A310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2EEA0791-BC18-B8F9-B738-9C6AD860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HTML und CSS Zusammenhang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677E03A-6A9D-5C4A-24E4-78B3AAFD50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 lnSpcReduction="10000"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just">
              <a:buNone/>
            </a:pPr>
            <a:r>
              <a:rPr lang="de-DE" sz="3000" dirty="0"/>
              <a:t>In HTML:</a:t>
            </a:r>
          </a:p>
          <a:p>
            <a:pPr marL="914400" lvl="2" indent="0" algn="just">
              <a:buNone/>
            </a:pPr>
            <a:r>
              <a:rPr lang="de-DE" sz="2800" dirty="0"/>
              <a:t>&lt;</a:t>
            </a: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  <a:r>
              <a:rPr lang="de-DE" sz="2800" dirty="0"/>
              <a:t>&gt; Ich bin ein Paragraf &lt;/p&gt;</a:t>
            </a:r>
          </a:p>
          <a:p>
            <a:pPr marL="914400" lvl="2" indent="0" algn="just">
              <a:buNone/>
            </a:pPr>
            <a:endParaRPr lang="de-DE" sz="2800" dirty="0"/>
          </a:p>
          <a:p>
            <a:pPr marL="457200" lvl="1" indent="0" algn="just">
              <a:buNone/>
            </a:pPr>
            <a:r>
              <a:rPr lang="de-DE" sz="3000" dirty="0"/>
              <a:t>In CSS:</a:t>
            </a:r>
          </a:p>
          <a:p>
            <a:pPr marL="914400" lvl="2" indent="0" algn="just">
              <a:buNone/>
            </a:pPr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p</a:t>
            </a:r>
          </a:p>
          <a:p>
            <a:pPr marL="914400" lvl="2" indent="0" algn="just">
              <a:buNone/>
            </a:pPr>
            <a:r>
              <a:rPr lang="de-DE" sz="2800" dirty="0"/>
              <a:t>{</a:t>
            </a:r>
          </a:p>
          <a:p>
            <a:pPr marL="914400" lvl="2" indent="0" algn="just">
              <a:buNone/>
            </a:pPr>
            <a:r>
              <a:rPr lang="de-DE" sz="2800" dirty="0"/>
              <a:t>	</a:t>
            </a:r>
            <a:r>
              <a:rPr lang="de-DE" sz="2800" dirty="0" err="1"/>
              <a:t>color</a:t>
            </a:r>
            <a:r>
              <a:rPr lang="de-DE" sz="2800" dirty="0"/>
              <a:t> = Yellow;</a:t>
            </a:r>
          </a:p>
          <a:p>
            <a:pPr marL="914400" lvl="2" indent="0" algn="just">
              <a:buNone/>
            </a:pPr>
            <a:r>
              <a:rPr lang="de-DE" sz="2800" dirty="0"/>
              <a:t>}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34CF8AE-4A94-4BC4-0188-FBA230BB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84129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3BA92-5683-9246-5ACD-1131B5A0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AD6645A6-5485-6800-D8CF-4D2C1D58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CSS Vorher - Nachher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040BDB5-F025-8DE5-2D1F-AE7192A094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1"/>
            <a:ext cx="8706678" cy="3904489"/>
          </a:xfrm>
        </p:spPr>
        <p:txBody>
          <a:bodyPr rtlCol="0">
            <a:normAutofit/>
          </a:bodyPr>
          <a:lstStyle>
            <a:defPPr>
              <a:defRPr lang="de-DE"/>
            </a:defPPr>
          </a:lstStyle>
          <a:p>
            <a:pPr marL="457200" lvl="1" indent="0" algn="just">
              <a:buNone/>
            </a:pPr>
            <a:endParaRPr lang="de-DE" sz="2200" dirty="0"/>
          </a:p>
          <a:p>
            <a:pPr marL="457200" lvl="1" indent="0" algn="ctr">
              <a:buNone/>
            </a:pPr>
            <a:r>
              <a:rPr lang="de-DE" sz="3000" dirty="0"/>
              <a:t>Vorher</a:t>
            </a: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just">
              <a:buNone/>
            </a:pPr>
            <a:endParaRPr lang="de-DE" sz="2400" dirty="0">
              <a:solidFill>
                <a:srgbClr val="00B050"/>
              </a:solidFill>
            </a:endParaRPr>
          </a:p>
          <a:p>
            <a:pPr marL="457200" lvl="1" indent="0" algn="ctr">
              <a:buNone/>
            </a:pPr>
            <a:r>
              <a:rPr lang="de-DE" sz="2400" dirty="0"/>
              <a:t>Nachher</a:t>
            </a:r>
            <a:endParaRPr lang="de-DE" sz="2400" dirty="0">
              <a:solidFill>
                <a:srgbClr val="00B050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4BF31D6-3116-6595-F11E-35C58B987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58FB4751-880F-D840-AAA9-3A15815CC996}" type="slidenum">
              <a:rPr lang="de-DE" smtClean="0"/>
              <a:pPr rtl="0"/>
              <a:t>13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3645E8D-8822-C29B-E25E-1FC71669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959" y="3071762"/>
            <a:ext cx="3820058" cy="71447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DADE221-BFC1-8221-166B-94FF771C6E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6959" y="4986426"/>
            <a:ext cx="3788064" cy="714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69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128D8-051F-F238-6D76-43398E28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81A9E5DA-924A-3A81-BBA6-BC86D261B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Übung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39E470F8-BBB1-6DC3-C2E0-21DE32C476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Gestallte deine Visitenkarte/Steckbrief</a:t>
            </a:r>
          </a:p>
        </p:txBody>
      </p:sp>
    </p:spTree>
    <p:extLst>
      <p:ext uri="{BB962C8B-B14F-4D97-AF65-F5344CB8AC3E}">
        <p14:creationId xmlns:p14="http://schemas.microsoft.com/office/powerpoint/2010/main" val="2210441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EC72-E46C-648E-AF08-8CA3D89FC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2">
            <a:extLst>
              <a:ext uri="{FF2B5EF4-FFF2-40B4-BE49-F238E27FC236}">
                <a16:creationId xmlns:a16="http://schemas.microsoft.com/office/drawing/2014/main" id="{77355508-DA41-BAE5-B7C8-4186B872A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28523" y="914400"/>
            <a:ext cx="7731906" cy="2843784"/>
          </a:xfrm>
        </p:spPr>
        <p:txBody>
          <a:bodyPr rtlCol="0" anchor="b"/>
          <a:lstStyle>
            <a:defPPr>
              <a:defRPr lang="de-DE"/>
            </a:defPPr>
          </a:lstStyle>
          <a:p>
            <a:pPr rtl="0"/>
            <a:r>
              <a:rPr lang="de-DE" dirty="0"/>
              <a:t>Geschafft!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BF418405-B001-7450-8FDC-DA4D13EF44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41114" y="3825875"/>
            <a:ext cx="8109772" cy="2644775"/>
          </a:xfrm>
        </p:spPr>
        <p:txBody>
          <a:bodyPr rtlCol="0"/>
          <a:lstStyle>
            <a:defPPr>
              <a:defRPr lang="de-DE"/>
            </a:defPPr>
          </a:lstStyle>
          <a:p>
            <a:r>
              <a:rPr lang="de-DE" dirty="0"/>
              <a:t>Nun wisst ihr </a:t>
            </a:r>
            <a:r>
              <a:rPr lang="de-DE" sz="1000" dirty="0"/>
              <a:t>fast</a:t>
            </a:r>
            <a:r>
              <a:rPr lang="de-DE" dirty="0"/>
              <a:t> alles für den </a:t>
            </a:r>
            <a:r>
              <a:rPr lang="de-DE" dirty="0" err="1"/>
              <a:t>avatar-maker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415513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17">
      <a:dk1>
        <a:srgbClr val="543E34"/>
      </a:dk1>
      <a:lt1>
        <a:srgbClr val="FFFFFF"/>
      </a:lt1>
      <a:dk2>
        <a:srgbClr val="5D6A76"/>
      </a:dk2>
      <a:lt2>
        <a:srgbClr val="E5DACF"/>
      </a:lt2>
      <a:accent1>
        <a:srgbClr val="FEF3ED"/>
      </a:accent1>
      <a:accent2>
        <a:srgbClr val="AC5B4C"/>
      </a:accent2>
      <a:accent3>
        <a:srgbClr val="D0D8B6"/>
      </a:accent3>
      <a:accent4>
        <a:srgbClr val="A09D79"/>
      </a:accent4>
      <a:accent5>
        <a:srgbClr val="4E5745"/>
      </a:accent5>
      <a:accent6>
        <a:srgbClr val="D7D0CE"/>
      </a:accent6>
      <a:hlink>
        <a:srgbClr val="AC5B4C"/>
      </a:hlink>
      <a:folHlink>
        <a:srgbClr val="4E5745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6585_TF11964407_Win32" id="{688BD650-303D-48BB-9279-E5AFCA70B978}" vid="{6812C2CD-8DD4-4DA8-8C5E-C552641CF11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{CCE7A5E2-7071-4A8F-B002-9EE99B4329C5}tf11964407_win32</Template>
  <TotalTime>0</TotalTime>
  <Words>282</Words>
  <Application>Microsoft Office PowerPoint</Application>
  <PresentationFormat>Breitbild</PresentationFormat>
  <Paragraphs>99</Paragraphs>
  <Slides>15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2" baseType="lpstr">
      <vt:lpstr>Arial</vt:lpstr>
      <vt:lpstr>Calibri</vt:lpstr>
      <vt:lpstr>Courier New</vt:lpstr>
      <vt:lpstr>Gill Sans Nova Light</vt:lpstr>
      <vt:lpstr>Roboto</vt:lpstr>
      <vt:lpstr>Sagona Book</vt:lpstr>
      <vt:lpstr>Benutzerdefiniert</vt:lpstr>
      <vt:lpstr>PowerPoint-Präsentation</vt:lpstr>
      <vt:lpstr>Intro HTML &amp; CSS</vt:lpstr>
      <vt:lpstr>Tagesordnung</vt:lpstr>
      <vt:lpstr>Was sind HTML und CSS ?</vt:lpstr>
      <vt:lpstr>HTML und CSS sind…</vt:lpstr>
      <vt:lpstr>HTML</vt:lpstr>
      <vt:lpstr>Wie funktioniert HTML</vt:lpstr>
      <vt:lpstr>Tags in HTML</vt:lpstr>
      <vt:lpstr>Übung</vt:lpstr>
      <vt:lpstr>CSS</vt:lpstr>
      <vt:lpstr>Wie funktioniert CSS</vt:lpstr>
      <vt:lpstr>HTML und CSS Zusammenhang</vt:lpstr>
      <vt:lpstr>CSS Vorher - Nachher</vt:lpstr>
      <vt:lpstr>Übung</vt:lpstr>
      <vt:lpstr>Geschafft!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Jeanette Loßau / PBG2H24A</dc:creator>
  <cp:lastModifiedBy>Jeanette Loßau / PBG2H24A</cp:lastModifiedBy>
  <cp:revision>32</cp:revision>
  <dcterms:created xsi:type="dcterms:W3CDTF">2025-12-04T19:17:04Z</dcterms:created>
  <dcterms:modified xsi:type="dcterms:W3CDTF">2025-12-04T20:28:41Z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